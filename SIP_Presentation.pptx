
<file path=[Content_Types].xml><?xml version="1.0" encoding="utf-8"?>
<Types xmlns="http://schemas.openxmlformats.org/package/2006/content-types">
  <Default Extension="png" ContentType="image/png"/>
  <Default Extension="mov" ContentType="video/quicktime"/>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71" r:id="rId5"/>
    <p:sldId id="270" r:id="rId6"/>
    <p:sldId id="272" r:id="rId7"/>
    <p:sldId id="273" r:id="rId8"/>
    <p:sldId id="269" r:id="rId9"/>
    <p:sldId id="260" r:id="rId10"/>
    <p:sldId id="274" r:id="rId11"/>
    <p:sldId id="275" r:id="rId12"/>
    <p:sldId id="261" r:id="rId13"/>
    <p:sldId id="263" r:id="rId14"/>
    <p:sldId id="268" r:id="rId15"/>
    <p:sldId id="262" r:id="rId16"/>
    <p:sldId id="266" r:id="rId17"/>
    <p:sldId id="26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15" autoAdjust="0"/>
    <p:restoredTop sz="86766" autoAdjust="0"/>
  </p:normalViewPr>
  <p:slideViewPr>
    <p:cSldViewPr snapToGrid="0">
      <p:cViewPr varScale="1">
        <p:scale>
          <a:sx n="80" d="100"/>
          <a:sy n="80" d="100"/>
        </p:scale>
        <p:origin x="732" y="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7708E-E117-441B-AFE4-0C70D00EEBBE}" type="datetimeFigureOut">
              <a:rPr lang="en-US" smtClean="0"/>
              <a:t>10/30/2021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0BC7FD-AF24-4DAD-A3AB-787D1F60F01F}" type="slidenum">
              <a:rPr lang="en-US" smtClean="0"/>
              <a:t>‹#›</a:t>
            </a:fld>
            <a:endParaRPr lang="en-US"/>
          </a:p>
        </p:txBody>
      </p:sp>
    </p:spTree>
    <p:extLst>
      <p:ext uri="{BB962C8B-B14F-4D97-AF65-F5344CB8AC3E}">
        <p14:creationId xmlns:p14="http://schemas.microsoft.com/office/powerpoint/2010/main" val="154094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SIP is a well defined clinical entity</a:t>
            </a:r>
            <a:r>
              <a:rPr lang="en-US" baseline="0" dirty="0" smtClean="0"/>
              <a:t> which has catastrophic effects in premature infants. It has been studied for more than 2 decades and the risk factors associated with it have gradually come to be defined.</a:t>
            </a:r>
            <a:r>
              <a:rPr lang="en-US" dirty="0" smtClean="0"/>
              <a:t> Necrotizing enterocolitis (NEC) is a another similar condition</a:t>
            </a:r>
            <a:r>
              <a:rPr lang="en-US" baseline="0" dirty="0" smtClean="0"/>
              <a:t> which is often confused with SIP.</a:t>
            </a:r>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2</a:t>
            </a:fld>
            <a:endParaRPr lang="en-US"/>
          </a:p>
        </p:txBody>
      </p:sp>
    </p:spTree>
    <p:extLst>
      <p:ext uri="{BB962C8B-B14F-4D97-AF65-F5344CB8AC3E}">
        <p14:creationId xmlns:p14="http://schemas.microsoft.com/office/powerpoint/2010/main" val="4223742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list</a:t>
            </a:r>
            <a:r>
              <a:rPr lang="en-US" baseline="0" dirty="0" smtClean="0"/>
              <a:t> of suspected risk factors have been reported in different studies with varying levels of association.</a:t>
            </a:r>
          </a:p>
          <a:p>
            <a:r>
              <a:rPr lang="en-US" baseline="0" dirty="0" smtClean="0"/>
              <a:t>Low Gestational age is a consistent risk factor and has factored in the neonatologist’s clinical assessment of the premature infant.</a:t>
            </a:r>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3</a:t>
            </a:fld>
            <a:endParaRPr lang="en-US"/>
          </a:p>
        </p:txBody>
      </p:sp>
    </p:spTree>
    <p:extLst>
      <p:ext uri="{BB962C8B-B14F-4D97-AF65-F5344CB8AC3E}">
        <p14:creationId xmlns:p14="http://schemas.microsoft.com/office/powerpoint/2010/main" val="4055168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study of </a:t>
            </a:r>
            <a:r>
              <a:rPr lang="en-US" baseline="0" dirty="0" err="1" smtClean="0"/>
              <a:t>ma’ternal</a:t>
            </a:r>
            <a:r>
              <a:rPr lang="en-US" baseline="0" dirty="0" smtClean="0"/>
              <a:t> and infant risk factors has continued to inform the neonatologist. </a:t>
            </a:r>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4</a:t>
            </a:fld>
            <a:endParaRPr lang="en-US"/>
          </a:p>
        </p:txBody>
      </p:sp>
    </p:spTree>
    <p:extLst>
      <p:ext uri="{BB962C8B-B14F-4D97-AF65-F5344CB8AC3E}">
        <p14:creationId xmlns:p14="http://schemas.microsoft.com/office/powerpoint/2010/main" val="1931849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Different study</a:t>
            </a:r>
            <a:r>
              <a:rPr lang="en-US" baseline="0" dirty="0" smtClean="0"/>
              <a:t> methodologies have focused on different risk factors. </a:t>
            </a:r>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5</a:t>
            </a:fld>
            <a:endParaRPr lang="en-US"/>
          </a:p>
        </p:txBody>
      </p:sp>
    </p:spTree>
    <p:extLst>
      <p:ext uri="{BB962C8B-B14F-4D97-AF65-F5344CB8AC3E}">
        <p14:creationId xmlns:p14="http://schemas.microsoft.com/office/powerpoint/2010/main" val="2608324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studies previously reported, one</a:t>
            </a:r>
            <a:r>
              <a:rPr lang="en-US" baseline="0" dirty="0" smtClean="0"/>
              <a:t> or few risk factors has been studied individually. But t</a:t>
            </a:r>
            <a:r>
              <a:rPr lang="en-US" dirty="0" smtClean="0"/>
              <a:t>he</a:t>
            </a:r>
            <a:r>
              <a:rPr lang="en-US" baseline="0" dirty="0" smtClean="0"/>
              <a:t> interaction of one risk factor with another to predict the overall risk has not been studied comprehensively.</a:t>
            </a:r>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6</a:t>
            </a:fld>
            <a:endParaRPr lang="en-US"/>
          </a:p>
        </p:txBody>
      </p:sp>
    </p:spTree>
    <p:extLst>
      <p:ext uri="{BB962C8B-B14F-4D97-AF65-F5344CB8AC3E}">
        <p14:creationId xmlns:p14="http://schemas.microsoft.com/office/powerpoint/2010/main" val="131755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recent study of multiple gestations has</a:t>
            </a:r>
            <a:r>
              <a:rPr lang="en-US" baseline="0" dirty="0" smtClean="0"/>
              <a:t> brought to light a previously unreported risk factor for SIP </a:t>
            </a:r>
            <a:r>
              <a:rPr lang="en-US" baseline="0" dirty="0" err="1" smtClean="0"/>
              <a:t>i.e</a:t>
            </a:r>
            <a:r>
              <a:rPr lang="en-US" baseline="0" dirty="0" smtClean="0"/>
              <a:t>, twin gestation. However, the interaction of this risk factor with other known risk factor presented a challenge. We sought to address this issue by using a multiple logistic regression analysis. </a:t>
            </a:r>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7</a:t>
            </a:fld>
            <a:endParaRPr lang="en-US"/>
          </a:p>
        </p:txBody>
      </p:sp>
    </p:spTree>
    <p:extLst>
      <p:ext uri="{BB962C8B-B14F-4D97-AF65-F5344CB8AC3E}">
        <p14:creationId xmlns:p14="http://schemas.microsoft.com/office/powerpoint/2010/main" val="115818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wonder if there is a better method of quantifying risk and developing a probabilistic estimation of conditions such as SIP which are relatively rare but very devastating.</a:t>
            </a:r>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8</a:t>
            </a:fld>
            <a:endParaRPr lang="en-US"/>
          </a:p>
        </p:txBody>
      </p:sp>
    </p:spTree>
    <p:extLst>
      <p:ext uri="{BB962C8B-B14F-4D97-AF65-F5344CB8AC3E}">
        <p14:creationId xmlns:p14="http://schemas.microsoft.com/office/powerpoint/2010/main" val="3459527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aim of our study was to develop a machine learning algorithm for a</a:t>
            </a:r>
            <a:r>
              <a:rPr lang="en-US" baseline="0" dirty="0" smtClean="0"/>
              <a:t> probabilistic prediction of SIP using data available from our NICU database at UCONN Health NICU of Connecticut Children’s.</a:t>
            </a:r>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9</a:t>
            </a:fld>
            <a:endParaRPr lang="en-US"/>
          </a:p>
        </p:txBody>
      </p:sp>
    </p:spTree>
    <p:extLst>
      <p:ext uri="{BB962C8B-B14F-4D97-AF65-F5344CB8AC3E}">
        <p14:creationId xmlns:p14="http://schemas.microsoft.com/office/powerpoint/2010/main" val="1824986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12</a:t>
            </a:fld>
            <a:endParaRPr lang="en-US"/>
          </a:p>
        </p:txBody>
      </p:sp>
    </p:spTree>
    <p:extLst>
      <p:ext uri="{BB962C8B-B14F-4D97-AF65-F5344CB8AC3E}">
        <p14:creationId xmlns:p14="http://schemas.microsoft.com/office/powerpoint/2010/main" val="998262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15</a:t>
            </a:fld>
            <a:endParaRPr lang="en-US"/>
          </a:p>
        </p:txBody>
      </p:sp>
    </p:spTree>
    <p:extLst>
      <p:ext uri="{BB962C8B-B14F-4D97-AF65-F5344CB8AC3E}">
        <p14:creationId xmlns:p14="http://schemas.microsoft.com/office/powerpoint/2010/main" val="2629223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 unknown</a:t>
            </a:r>
            <a:endParaRPr lang="en-US" dirty="0"/>
          </a:p>
        </p:txBody>
      </p:sp>
      <p:sp>
        <p:nvSpPr>
          <p:cNvPr id="4" name="Slide Number Placeholder 3"/>
          <p:cNvSpPr>
            <a:spLocks noGrp="1"/>
          </p:cNvSpPr>
          <p:nvPr>
            <p:ph type="sldNum" sz="quarter" idx="10"/>
          </p:nvPr>
        </p:nvSpPr>
        <p:spPr/>
        <p:txBody>
          <a:bodyPr/>
          <a:lstStyle/>
          <a:p>
            <a:fld id="{050BC7FD-AF24-4DAD-A3AB-787D1F60F01F}" type="slidenum">
              <a:rPr lang="en-US" smtClean="0"/>
              <a:t>16</a:t>
            </a:fld>
            <a:endParaRPr lang="en-US"/>
          </a:p>
        </p:txBody>
      </p:sp>
    </p:spTree>
    <p:extLst>
      <p:ext uri="{BB962C8B-B14F-4D97-AF65-F5344CB8AC3E}">
        <p14:creationId xmlns:p14="http://schemas.microsoft.com/office/powerpoint/2010/main" val="2915532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4BA1EA0-CAEC-48D4-9CB2-FE3AE4036420}" type="datetimeFigureOut">
              <a:rPr lang="en-US" smtClean="0"/>
              <a:t>10/30/2021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412342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BA1EA0-CAEC-48D4-9CB2-FE3AE4036420}" type="datetimeFigureOut">
              <a:rPr lang="en-US" smtClean="0"/>
              <a:t>10/30/2021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1235635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BA1EA0-CAEC-48D4-9CB2-FE3AE4036420}" type="datetimeFigureOut">
              <a:rPr lang="en-US" smtClean="0"/>
              <a:t>10/30/2021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462383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BA1EA0-CAEC-48D4-9CB2-FE3AE4036420}" type="datetimeFigureOut">
              <a:rPr lang="en-US" smtClean="0"/>
              <a:t>10/30/2021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2761133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4BA1EA0-CAEC-48D4-9CB2-FE3AE4036420}" type="datetimeFigureOut">
              <a:rPr lang="en-US" smtClean="0"/>
              <a:t>10/30/2021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1521801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BA1EA0-CAEC-48D4-9CB2-FE3AE4036420}" type="datetimeFigureOut">
              <a:rPr lang="en-US" smtClean="0"/>
              <a:t>10/30/2021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247200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BA1EA0-CAEC-48D4-9CB2-FE3AE4036420}" type="datetimeFigureOut">
              <a:rPr lang="en-US" smtClean="0"/>
              <a:t>10/30/2021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2044964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BA1EA0-CAEC-48D4-9CB2-FE3AE4036420}" type="datetimeFigureOut">
              <a:rPr lang="en-US" smtClean="0"/>
              <a:t>10/30/2021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2284862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BA1EA0-CAEC-48D4-9CB2-FE3AE4036420}" type="datetimeFigureOut">
              <a:rPr lang="en-US" smtClean="0"/>
              <a:t>10/30/2021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2721187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BA1EA0-CAEC-48D4-9CB2-FE3AE4036420}" type="datetimeFigureOut">
              <a:rPr lang="en-US" smtClean="0"/>
              <a:t>10/30/2021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1034306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BA1EA0-CAEC-48D4-9CB2-FE3AE4036420}" type="datetimeFigureOut">
              <a:rPr lang="en-US" smtClean="0"/>
              <a:t>10/30/2021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DE5E0-BBE0-4D1E-B2E3-CAC780688B22}" type="slidenum">
              <a:rPr lang="en-US" smtClean="0"/>
              <a:t>‹#›</a:t>
            </a:fld>
            <a:endParaRPr lang="en-US"/>
          </a:p>
        </p:txBody>
      </p:sp>
    </p:spTree>
    <p:extLst>
      <p:ext uri="{BB962C8B-B14F-4D97-AF65-F5344CB8AC3E}">
        <p14:creationId xmlns:p14="http://schemas.microsoft.com/office/powerpoint/2010/main" val="127966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BA1EA0-CAEC-48D4-9CB2-FE3AE4036420}" type="datetimeFigureOut">
              <a:rPr lang="en-US" smtClean="0"/>
              <a:t>10/30/2021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BDE5E0-BBE0-4D1E-B2E3-CAC780688B22}" type="slidenum">
              <a:rPr lang="en-US" smtClean="0"/>
              <a:t>‹#›</a:t>
            </a:fld>
            <a:endParaRPr lang="en-US"/>
          </a:p>
        </p:txBody>
      </p:sp>
    </p:spTree>
    <p:extLst>
      <p:ext uri="{BB962C8B-B14F-4D97-AF65-F5344CB8AC3E}">
        <p14:creationId xmlns:p14="http://schemas.microsoft.com/office/powerpoint/2010/main" val="14541715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16.png"/><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2D872F-8796-433A-80AB-CE62002DC3F0}"/>
              </a:ext>
            </a:extLst>
          </p:cNvPr>
          <p:cNvSpPr>
            <a:spLocks noGrp="1"/>
          </p:cNvSpPr>
          <p:nvPr>
            <p:ph type="ctrTitle"/>
          </p:nvPr>
        </p:nvSpPr>
        <p:spPr>
          <a:xfrm>
            <a:off x="329184" y="1122363"/>
            <a:ext cx="11228832" cy="2387600"/>
          </a:xfrm>
        </p:spPr>
        <p:txBody>
          <a:bodyPr>
            <a:normAutofit/>
          </a:bodyPr>
          <a:lstStyle/>
          <a:p>
            <a:r>
              <a:rPr lang="en-US" sz="4400" dirty="0"/>
              <a:t>Modeling and Applications of Predicting Risk Factors for Spontaneous Intestinal Perforation (SIP) in Newborn Infants</a:t>
            </a:r>
          </a:p>
        </p:txBody>
      </p:sp>
      <p:sp>
        <p:nvSpPr>
          <p:cNvPr id="3" name="Subtitle 2">
            <a:extLst>
              <a:ext uri="{FF2B5EF4-FFF2-40B4-BE49-F238E27FC236}">
                <a16:creationId xmlns:a16="http://schemas.microsoft.com/office/drawing/2014/main" xmlns="" id="{6A0B029E-D7C7-487C-A6F3-DF92DD023C0D}"/>
              </a:ext>
            </a:extLst>
          </p:cNvPr>
          <p:cNvSpPr>
            <a:spLocks noGrp="1"/>
          </p:cNvSpPr>
          <p:nvPr>
            <p:ph type="subTitle" idx="1"/>
          </p:nvPr>
        </p:nvSpPr>
        <p:spPr>
          <a:xfrm>
            <a:off x="1524000" y="4197096"/>
            <a:ext cx="9144000" cy="1993392"/>
          </a:xfrm>
        </p:spPr>
        <p:txBody>
          <a:bodyPr>
            <a:normAutofit/>
          </a:bodyPr>
          <a:lstStyle/>
          <a:p>
            <a:r>
              <a:rPr lang="en-US" dirty="0"/>
              <a:t>Zigeng Wang, Rik Roy, Naveed Hussain, </a:t>
            </a:r>
            <a:r>
              <a:rPr lang="en-US" dirty="0" err="1"/>
              <a:t>Sanguthevar</a:t>
            </a:r>
            <a:r>
              <a:rPr lang="en-US" dirty="0"/>
              <a:t> </a:t>
            </a:r>
            <a:r>
              <a:rPr lang="en-US" dirty="0" err="1"/>
              <a:t>Rajasekaran</a:t>
            </a:r>
            <a:r>
              <a:rPr lang="en-US" dirty="0"/>
              <a:t> </a:t>
            </a:r>
          </a:p>
          <a:p>
            <a:endParaRPr lang="en-US" dirty="0" smtClean="0"/>
          </a:p>
          <a:p>
            <a:endParaRPr lang="en-US" sz="300" dirty="0"/>
          </a:p>
          <a:p>
            <a:r>
              <a:rPr lang="en-US" sz="1800" dirty="0"/>
              <a:t>Dept. of Computer Science and Engineering, University of Connecticut, Ellington High School &amp; Dept of Pediatrics, University of Connecticut Health Center</a:t>
            </a:r>
          </a:p>
        </p:txBody>
      </p:sp>
    </p:spTree>
    <p:extLst>
      <p:ext uri="{BB962C8B-B14F-4D97-AF65-F5344CB8AC3E}">
        <p14:creationId xmlns:p14="http://schemas.microsoft.com/office/powerpoint/2010/main" val="27469947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10E9EB-B460-4614-BD1B-EF09F93912B7}"/>
              </a:ext>
            </a:extLst>
          </p:cNvPr>
          <p:cNvSpPr>
            <a:spLocks noGrp="1"/>
          </p:cNvSpPr>
          <p:nvPr>
            <p:ph type="title"/>
          </p:nvPr>
        </p:nvSpPr>
        <p:spPr>
          <a:xfrm>
            <a:off x="815341" y="227965"/>
            <a:ext cx="10515600" cy="1325563"/>
          </a:xfrm>
        </p:spPr>
        <p:txBody>
          <a:bodyPr/>
          <a:lstStyle/>
          <a:p>
            <a:r>
              <a:rPr lang="en-US" dirty="0"/>
              <a:t>Spontaneous Intestinal Perforation (SIP)</a:t>
            </a:r>
          </a:p>
        </p:txBody>
      </p:sp>
      <p:sp>
        <p:nvSpPr>
          <p:cNvPr id="3" name="Content Placeholder 2">
            <a:extLst>
              <a:ext uri="{FF2B5EF4-FFF2-40B4-BE49-F238E27FC236}">
                <a16:creationId xmlns:a16="http://schemas.microsoft.com/office/drawing/2014/main" xmlns="" id="{E52957EC-73B9-4E8E-9C18-54F83374DE7D}"/>
              </a:ext>
            </a:extLst>
          </p:cNvPr>
          <p:cNvSpPr>
            <a:spLocks noGrp="1"/>
          </p:cNvSpPr>
          <p:nvPr>
            <p:ph idx="1"/>
          </p:nvPr>
        </p:nvSpPr>
        <p:spPr>
          <a:xfrm>
            <a:off x="938908" y="1745788"/>
            <a:ext cx="3899263" cy="4351338"/>
          </a:xfrm>
        </p:spPr>
        <p:txBody>
          <a:bodyPr>
            <a:normAutofit/>
          </a:bodyPr>
          <a:lstStyle/>
          <a:p>
            <a:r>
              <a:rPr lang="en-US" sz="2400" i="1" dirty="0"/>
              <a:t>Spontaneous intestinal perforation </a:t>
            </a:r>
            <a:r>
              <a:rPr lang="en-US" sz="2400" b="1" i="1" dirty="0"/>
              <a:t>(SIP)</a:t>
            </a:r>
            <a:r>
              <a:rPr lang="en-US" sz="2400" i="1" dirty="0"/>
              <a:t>,</a:t>
            </a:r>
            <a:r>
              <a:rPr lang="en-US" sz="2400" b="1" i="1" dirty="0"/>
              <a:t> </a:t>
            </a:r>
            <a:r>
              <a:rPr lang="en-US" sz="2400" i="1" dirty="0"/>
              <a:t>also known as focal small bowel perforation, is an acquired form of neonatal bowel disease that is distinct from necrotizing enterocolitis </a:t>
            </a:r>
            <a:r>
              <a:rPr lang="en-US" sz="2400" b="1" i="1" dirty="0"/>
              <a:t>(NEC) </a:t>
            </a:r>
            <a:r>
              <a:rPr lang="en-US" sz="2400" i="1" dirty="0"/>
              <a:t>and has been documented within the low-birth-weight population for over 20 </a:t>
            </a:r>
            <a:r>
              <a:rPr lang="en-US" sz="2400" i="1" dirty="0" smtClean="0"/>
              <a:t>years</a:t>
            </a:r>
            <a:r>
              <a:rPr lang="en-US" sz="2400" i="1" baseline="30000" dirty="0" smtClean="0"/>
              <a:t>1</a:t>
            </a:r>
            <a:r>
              <a:rPr lang="en-US" sz="2400" dirty="0" smtClean="0"/>
              <a:t>.</a:t>
            </a:r>
            <a:endParaRPr lang="en-US" sz="2400" dirty="0"/>
          </a:p>
        </p:txBody>
      </p:sp>
      <p:sp>
        <p:nvSpPr>
          <p:cNvPr id="5" name="TextBox 4">
            <a:extLst>
              <a:ext uri="{FF2B5EF4-FFF2-40B4-BE49-F238E27FC236}">
                <a16:creationId xmlns:a16="http://schemas.microsoft.com/office/drawing/2014/main" xmlns="" id="{94175030-8DA8-4F1B-83A3-02F156C81DFB}"/>
              </a:ext>
            </a:extLst>
          </p:cNvPr>
          <p:cNvSpPr txBox="1"/>
          <p:nvPr/>
        </p:nvSpPr>
        <p:spPr>
          <a:xfrm>
            <a:off x="742407" y="6020560"/>
            <a:ext cx="11131296" cy="830997"/>
          </a:xfrm>
          <a:prstGeom prst="rect">
            <a:avLst/>
          </a:prstGeom>
          <a:noFill/>
        </p:spPr>
        <p:txBody>
          <a:bodyPr wrap="square">
            <a:spAutoFit/>
          </a:bodyPr>
          <a:lstStyle/>
          <a:p>
            <a:r>
              <a:rPr lang="en-US" sz="1200" dirty="0" smtClean="0"/>
              <a:t>(1) cited </a:t>
            </a:r>
            <a:r>
              <a:rPr lang="en-US" sz="1200" dirty="0"/>
              <a:t>from </a:t>
            </a:r>
            <a:r>
              <a:rPr lang="en-US" sz="1200" dirty="0" err="1"/>
              <a:t>Attridge</a:t>
            </a:r>
            <a:r>
              <a:rPr lang="en-US" sz="1200" dirty="0"/>
              <a:t>, J. T., Clark, R., Walker, M. W., &amp; Gordon, P. V. (2006). New insights into spontaneous intestinal perforation using a national data </a:t>
            </a:r>
            <a:r>
              <a:rPr lang="en-US" sz="1200" dirty="0" smtClean="0"/>
              <a:t>set: SIP </a:t>
            </a:r>
            <a:r>
              <a:rPr lang="en-US" sz="1200" dirty="0"/>
              <a:t>is associated with early indomethacin exposure. Journal of perinatology, 26(2), 93-99.</a:t>
            </a:r>
          </a:p>
          <a:p>
            <a:r>
              <a:rPr lang="en-US" sz="1200" dirty="0" smtClean="0"/>
              <a:t>(2) cited </a:t>
            </a:r>
            <a:r>
              <a:rPr lang="en-US" sz="1200" dirty="0"/>
              <a:t>from Ibrahim, A. H., Hader, H. A., </a:t>
            </a:r>
            <a:r>
              <a:rPr lang="en-US" sz="1200" dirty="0" err="1"/>
              <a:t>Alsherbiny</a:t>
            </a:r>
            <a:r>
              <a:rPr lang="en-US" sz="1200" dirty="0"/>
              <a:t>, H., Hussein, M. R., &amp; Khan, S. A. (2020). Spontaneous intestinal perforation followed by necrotizing enterocolitis in an extremely low birth weight neonate: case report and review of the literature. Annals of Pediatric Surgery, 16(1), 1-4.</a:t>
            </a:r>
          </a:p>
        </p:txBody>
      </p:sp>
      <p:sp>
        <p:nvSpPr>
          <p:cNvPr id="7" name="TextBox 6">
            <a:extLst>
              <a:ext uri="{FF2B5EF4-FFF2-40B4-BE49-F238E27FC236}">
                <a16:creationId xmlns:a16="http://schemas.microsoft.com/office/drawing/2014/main" xmlns="" id="{BC77C4D4-681F-424B-9C00-138CA57749F5}"/>
              </a:ext>
            </a:extLst>
          </p:cNvPr>
          <p:cNvSpPr txBox="1"/>
          <p:nvPr/>
        </p:nvSpPr>
        <p:spPr>
          <a:xfrm>
            <a:off x="5843016" y="4997303"/>
            <a:ext cx="5751576" cy="830997"/>
          </a:xfrm>
          <a:prstGeom prst="rect">
            <a:avLst/>
          </a:prstGeom>
          <a:noFill/>
        </p:spPr>
        <p:txBody>
          <a:bodyPr wrap="square">
            <a:spAutoFit/>
          </a:bodyPr>
          <a:lstStyle/>
          <a:p>
            <a:r>
              <a:rPr lang="en-US" sz="1600" dirty="0"/>
              <a:t>Figure 1: A plain lateral decubitus x ray of the abdomen showing massive </a:t>
            </a:r>
            <a:r>
              <a:rPr lang="en-US" sz="1600" dirty="0" err="1"/>
              <a:t>pneumoperitonium</a:t>
            </a:r>
            <a:r>
              <a:rPr lang="en-US" sz="1600" dirty="0"/>
              <a:t> with no evidence of pneumatosis intestinalis and no portal venous </a:t>
            </a:r>
            <a:r>
              <a:rPr lang="en-US" sz="1600" dirty="0" smtClean="0"/>
              <a:t>gas</a:t>
            </a:r>
            <a:r>
              <a:rPr lang="en-US" sz="1600" baseline="30000" dirty="0" smtClean="0"/>
              <a:t>2</a:t>
            </a:r>
            <a:endParaRPr lang="en-US" sz="1600" baseline="30000" dirty="0"/>
          </a:p>
        </p:txBody>
      </p:sp>
      <p:pic>
        <p:nvPicPr>
          <p:cNvPr id="9" name="Picture 8">
            <a:extLst>
              <a:ext uri="{FF2B5EF4-FFF2-40B4-BE49-F238E27FC236}">
                <a16:creationId xmlns:a16="http://schemas.microsoft.com/office/drawing/2014/main" xmlns="" id="{210ECEA6-8A7B-4187-819F-C2BB8810503D}"/>
              </a:ext>
            </a:extLst>
          </p:cNvPr>
          <p:cNvPicPr>
            <a:picLocks noChangeAspect="1"/>
          </p:cNvPicPr>
          <p:nvPr/>
        </p:nvPicPr>
        <p:blipFill rotWithShape="1">
          <a:blip r:embed="rId3"/>
          <a:srcRect l="18234" t="6969" r="2940" b="9950"/>
          <a:stretch/>
        </p:blipFill>
        <p:spPr>
          <a:xfrm>
            <a:off x="5843016" y="1553528"/>
            <a:ext cx="5068824" cy="3376306"/>
          </a:xfrm>
          <a:prstGeom prst="rect">
            <a:avLst/>
          </a:prstGeom>
        </p:spPr>
      </p:pic>
    </p:spTree>
    <p:extLst>
      <p:ext uri="{BB962C8B-B14F-4D97-AF65-F5344CB8AC3E}">
        <p14:creationId xmlns:p14="http://schemas.microsoft.com/office/powerpoint/2010/main" val="7669112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3143"/>
          </a:xfrm>
        </p:spPr>
        <p:txBody>
          <a:bodyPr/>
          <a:lstStyle/>
          <a:p>
            <a:r>
              <a:rPr lang="en-US" dirty="0" smtClean="0"/>
              <a:t>Conventional SIP Prediction</a:t>
            </a:r>
            <a:endParaRPr lang="en-US" dirty="0"/>
          </a:p>
        </p:txBody>
      </p:sp>
      <p:sp>
        <p:nvSpPr>
          <p:cNvPr id="5" name="Oval 4">
            <a:extLst>
              <a:ext uri="{FF2B5EF4-FFF2-40B4-BE49-F238E27FC236}">
                <a16:creationId xmlns:a16="http://schemas.microsoft.com/office/drawing/2014/main" xmlns="" id="{7F4B5A15-FF0C-4A42-B191-0B1264768FFA}"/>
              </a:ext>
            </a:extLst>
          </p:cNvPr>
          <p:cNvSpPr/>
          <p:nvPr/>
        </p:nvSpPr>
        <p:spPr>
          <a:xfrm>
            <a:off x="8191090" y="2483935"/>
            <a:ext cx="3886200" cy="12436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Neonatologist                            </a:t>
            </a:r>
            <a:endParaRPr lang="en-US" dirty="0"/>
          </a:p>
        </p:txBody>
      </p:sp>
      <p:sp>
        <p:nvSpPr>
          <p:cNvPr id="7" name="Rectangle: Rounded Corners 5">
            <a:extLst>
              <a:ext uri="{FF2B5EF4-FFF2-40B4-BE49-F238E27FC236}">
                <a16:creationId xmlns:a16="http://schemas.microsoft.com/office/drawing/2014/main" xmlns="" id="{878C79D7-7857-47AD-86D9-75EBF903E5C5}"/>
              </a:ext>
            </a:extLst>
          </p:cNvPr>
          <p:cNvSpPr/>
          <p:nvPr/>
        </p:nvSpPr>
        <p:spPr>
          <a:xfrm>
            <a:off x="474685" y="366212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a:solidFill>
                  <a:schemeClr val="bg2"/>
                </a:solidFill>
              </a:rPr>
              <a:t>Gestational </a:t>
            </a:r>
            <a:r>
              <a:rPr lang="en-US" sz="1600" dirty="0" smtClean="0">
                <a:solidFill>
                  <a:schemeClr val="bg2"/>
                </a:solidFill>
              </a:rPr>
              <a:t>Age</a:t>
            </a:r>
            <a:endParaRPr lang="en-US" sz="1600" dirty="0">
              <a:solidFill>
                <a:schemeClr val="bg2"/>
              </a:solidFill>
            </a:endParaRPr>
          </a:p>
        </p:txBody>
      </p:sp>
      <p:sp>
        <p:nvSpPr>
          <p:cNvPr id="8" name="Rectangle: Rounded Corners 7">
            <a:extLst>
              <a:ext uri="{FF2B5EF4-FFF2-40B4-BE49-F238E27FC236}">
                <a16:creationId xmlns:a16="http://schemas.microsoft.com/office/drawing/2014/main" xmlns="" id="{D5E5FE08-5C6B-4B34-B8DB-997DC7A013FE}"/>
              </a:ext>
            </a:extLst>
          </p:cNvPr>
          <p:cNvSpPr/>
          <p:nvPr/>
        </p:nvSpPr>
        <p:spPr>
          <a:xfrm>
            <a:off x="177505" y="1566413"/>
            <a:ext cx="2249424" cy="4760246"/>
          </a:xfrm>
          <a:prstGeom prst="roundRect">
            <a:avLst>
              <a:gd name="adj" fmla="val 931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9" name="TextBox 8">
            <a:extLst>
              <a:ext uri="{FF2B5EF4-FFF2-40B4-BE49-F238E27FC236}">
                <a16:creationId xmlns:a16="http://schemas.microsoft.com/office/drawing/2014/main" xmlns="" id="{8695EE34-41F2-4CE8-B7A4-68C19C84AEF0}"/>
              </a:ext>
            </a:extLst>
          </p:cNvPr>
          <p:cNvSpPr txBox="1"/>
          <p:nvPr/>
        </p:nvSpPr>
        <p:spPr>
          <a:xfrm>
            <a:off x="440832" y="6022990"/>
            <a:ext cx="1737079" cy="369332"/>
          </a:xfrm>
          <a:prstGeom prst="rect">
            <a:avLst/>
          </a:prstGeom>
          <a:noFill/>
        </p:spPr>
        <p:txBody>
          <a:bodyPr wrap="none" rtlCol="0">
            <a:spAutoFit/>
          </a:bodyPr>
          <a:lstStyle/>
          <a:p>
            <a:r>
              <a:rPr lang="en-US" dirty="0" smtClean="0"/>
              <a:t>Clinical Evidence</a:t>
            </a:r>
            <a:endParaRPr lang="en-US" dirty="0"/>
          </a:p>
        </p:txBody>
      </p:sp>
      <p:sp>
        <p:nvSpPr>
          <p:cNvPr id="10" name="Arrow: Right 9">
            <a:extLst>
              <a:ext uri="{FF2B5EF4-FFF2-40B4-BE49-F238E27FC236}">
                <a16:creationId xmlns:a16="http://schemas.microsoft.com/office/drawing/2014/main" xmlns="" id="{AD4B9368-5F3C-414D-BF2F-02C6D7AFF0FC}"/>
              </a:ext>
            </a:extLst>
          </p:cNvPr>
          <p:cNvSpPr/>
          <p:nvPr/>
        </p:nvSpPr>
        <p:spPr>
          <a:xfrm>
            <a:off x="7224456" y="3032625"/>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4">
            <a:extLst>
              <a:ext uri="{FF2B5EF4-FFF2-40B4-BE49-F238E27FC236}">
                <a16:creationId xmlns:a16="http://schemas.microsoft.com/office/drawing/2014/main" xmlns="" id="{BC84B39E-203D-4D02-8B41-A8DF55BE37F8}"/>
              </a:ext>
            </a:extLst>
          </p:cNvPr>
          <p:cNvSpPr/>
          <p:nvPr/>
        </p:nvSpPr>
        <p:spPr>
          <a:xfrm>
            <a:off x="474685" y="1725821"/>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Birth Weight</a:t>
            </a:r>
            <a:endParaRPr lang="en-US" dirty="0"/>
          </a:p>
        </p:txBody>
      </p:sp>
      <p:sp>
        <p:nvSpPr>
          <p:cNvPr id="14" name="Rectangle: Rounded Corners 4">
            <a:extLst>
              <a:ext uri="{FF2B5EF4-FFF2-40B4-BE49-F238E27FC236}">
                <a16:creationId xmlns:a16="http://schemas.microsoft.com/office/drawing/2014/main" xmlns="" id="{BC84B39E-203D-4D02-8B41-A8DF55BE37F8}"/>
              </a:ext>
            </a:extLst>
          </p:cNvPr>
          <p:cNvSpPr/>
          <p:nvPr/>
        </p:nvSpPr>
        <p:spPr>
          <a:xfrm>
            <a:off x="461763" y="2210588"/>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Apgar_5</a:t>
            </a:r>
            <a:endParaRPr lang="en-US" dirty="0">
              <a:solidFill>
                <a:schemeClr val="bg2"/>
              </a:solidFill>
            </a:endParaRPr>
          </a:p>
        </p:txBody>
      </p:sp>
      <p:sp>
        <p:nvSpPr>
          <p:cNvPr id="15" name="Rectangle: Rounded Corners 4">
            <a:extLst>
              <a:ext uri="{FF2B5EF4-FFF2-40B4-BE49-F238E27FC236}">
                <a16:creationId xmlns:a16="http://schemas.microsoft.com/office/drawing/2014/main" xmlns="" id="{BC84B39E-203D-4D02-8B41-A8DF55BE37F8}"/>
              </a:ext>
            </a:extLst>
          </p:cNvPr>
          <p:cNvSpPr/>
          <p:nvPr/>
        </p:nvSpPr>
        <p:spPr>
          <a:xfrm>
            <a:off x="474685" y="2694434"/>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Race</a:t>
            </a:r>
            <a:endParaRPr lang="en-US" dirty="0">
              <a:solidFill>
                <a:schemeClr val="bg2"/>
              </a:solidFill>
            </a:endParaRPr>
          </a:p>
        </p:txBody>
      </p:sp>
      <p:sp>
        <p:nvSpPr>
          <p:cNvPr id="16" name="Rectangle: Rounded Corners 4">
            <a:extLst>
              <a:ext uri="{FF2B5EF4-FFF2-40B4-BE49-F238E27FC236}">
                <a16:creationId xmlns:a16="http://schemas.microsoft.com/office/drawing/2014/main" xmlns="" id="{BC84B39E-203D-4D02-8B41-A8DF55BE37F8}"/>
              </a:ext>
            </a:extLst>
          </p:cNvPr>
          <p:cNvSpPr/>
          <p:nvPr/>
        </p:nvSpPr>
        <p:spPr>
          <a:xfrm>
            <a:off x="481840" y="3178280"/>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Sex</a:t>
            </a:r>
            <a:endParaRPr lang="en-US" dirty="0">
              <a:solidFill>
                <a:schemeClr val="bg2"/>
              </a:solidFill>
            </a:endParaRPr>
          </a:p>
        </p:txBody>
      </p:sp>
      <p:sp>
        <p:nvSpPr>
          <p:cNvPr id="17" name="Rectangle: Rounded Corners 5">
            <a:extLst>
              <a:ext uri="{FF2B5EF4-FFF2-40B4-BE49-F238E27FC236}">
                <a16:creationId xmlns:a16="http://schemas.microsoft.com/office/drawing/2014/main" xmlns="" id="{878C79D7-7857-47AD-86D9-75EBF903E5C5}"/>
              </a:ext>
            </a:extLst>
          </p:cNvPr>
          <p:cNvSpPr/>
          <p:nvPr/>
        </p:nvSpPr>
        <p:spPr>
          <a:xfrm>
            <a:off x="481840" y="419205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IVH</a:t>
            </a:r>
            <a:endParaRPr lang="en-US" sz="1600" dirty="0">
              <a:solidFill>
                <a:schemeClr val="bg2"/>
              </a:solidFill>
            </a:endParaRPr>
          </a:p>
        </p:txBody>
      </p:sp>
      <p:sp>
        <p:nvSpPr>
          <p:cNvPr id="18" name="Rectangle: Rounded Corners 5">
            <a:extLst>
              <a:ext uri="{FF2B5EF4-FFF2-40B4-BE49-F238E27FC236}">
                <a16:creationId xmlns:a16="http://schemas.microsoft.com/office/drawing/2014/main" xmlns="" id="{878C79D7-7857-47AD-86D9-75EBF903E5C5}"/>
              </a:ext>
            </a:extLst>
          </p:cNvPr>
          <p:cNvSpPr/>
          <p:nvPr/>
        </p:nvSpPr>
        <p:spPr>
          <a:xfrm>
            <a:off x="474685" y="472197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Preterm Labor</a:t>
            </a:r>
            <a:endParaRPr lang="en-US" sz="1600" dirty="0">
              <a:solidFill>
                <a:schemeClr val="bg2"/>
              </a:solidFill>
            </a:endParaRPr>
          </a:p>
        </p:txBody>
      </p:sp>
      <p:sp>
        <p:nvSpPr>
          <p:cNvPr id="19" name="Rectangle: Rounded Corners 5">
            <a:extLst>
              <a:ext uri="{FF2B5EF4-FFF2-40B4-BE49-F238E27FC236}">
                <a16:creationId xmlns:a16="http://schemas.microsoft.com/office/drawing/2014/main" xmlns="" id="{878C79D7-7857-47AD-86D9-75EBF903E5C5}"/>
              </a:ext>
            </a:extLst>
          </p:cNvPr>
          <p:cNvSpPr/>
          <p:nvPr/>
        </p:nvSpPr>
        <p:spPr>
          <a:xfrm>
            <a:off x="474685" y="525190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Multiple Gest</a:t>
            </a:r>
            <a:endParaRPr lang="en-US" sz="1600" dirty="0">
              <a:solidFill>
                <a:schemeClr val="bg2"/>
              </a:solidFill>
            </a:endParaRPr>
          </a:p>
        </p:txBody>
      </p:sp>
      <p:sp>
        <p:nvSpPr>
          <p:cNvPr id="3" name="TextBox 2"/>
          <p:cNvSpPr txBox="1"/>
          <p:nvPr/>
        </p:nvSpPr>
        <p:spPr>
          <a:xfrm>
            <a:off x="1117613" y="5653658"/>
            <a:ext cx="343364" cy="369332"/>
          </a:xfrm>
          <a:prstGeom prst="rect">
            <a:avLst/>
          </a:prstGeom>
          <a:noFill/>
        </p:spPr>
        <p:txBody>
          <a:bodyPr wrap="none" rtlCol="0">
            <a:spAutoFit/>
          </a:bodyPr>
          <a:lstStyle/>
          <a:p>
            <a:r>
              <a:rPr lang="en-US" dirty="0" smtClean="0"/>
              <a:t>…</a:t>
            </a:r>
            <a:endParaRPr lang="en-US" dirty="0"/>
          </a:p>
        </p:txBody>
      </p:sp>
      <p:pic>
        <p:nvPicPr>
          <p:cNvPr id="20" name="Picture 19"/>
          <p:cNvPicPr>
            <a:picLocks noChangeAspect="1"/>
          </p:cNvPicPr>
          <p:nvPr/>
        </p:nvPicPr>
        <p:blipFill>
          <a:blip r:embed="rId3"/>
          <a:stretch>
            <a:fillRect/>
          </a:stretch>
        </p:blipFill>
        <p:spPr>
          <a:xfrm>
            <a:off x="10695032" y="1902081"/>
            <a:ext cx="990600" cy="1209675"/>
          </a:xfrm>
          <a:prstGeom prst="rect">
            <a:avLst/>
          </a:prstGeom>
        </p:spPr>
      </p:pic>
      <p:sp>
        <p:nvSpPr>
          <p:cNvPr id="21" name="Curved Left Arrow 20"/>
          <p:cNvSpPr/>
          <p:nvPr/>
        </p:nvSpPr>
        <p:spPr>
          <a:xfrm rot="16200000">
            <a:off x="9526966" y="1562146"/>
            <a:ext cx="507040" cy="1186910"/>
          </a:xfrm>
          <a:prstGeom prst="curvedLeftArrow">
            <a:avLst>
              <a:gd name="adj1" fmla="val 12841"/>
              <a:gd name="adj2" fmla="val 27694"/>
              <a:gd name="adj3" fmla="val 1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TextBox 21"/>
          <p:cNvSpPr txBox="1"/>
          <p:nvPr/>
        </p:nvSpPr>
        <p:spPr>
          <a:xfrm>
            <a:off x="8269833" y="1573715"/>
            <a:ext cx="3323026" cy="369332"/>
          </a:xfrm>
          <a:prstGeom prst="rect">
            <a:avLst/>
          </a:prstGeom>
          <a:noFill/>
        </p:spPr>
        <p:txBody>
          <a:bodyPr wrap="none" rtlCol="0">
            <a:spAutoFit/>
          </a:bodyPr>
          <a:lstStyle/>
          <a:p>
            <a:r>
              <a:rPr lang="en-US" dirty="0" smtClean="0"/>
              <a:t>Clinical Knowledge &amp; Experiences</a:t>
            </a:r>
            <a:endParaRPr lang="en-US" dirty="0"/>
          </a:p>
        </p:txBody>
      </p:sp>
      <p:sp>
        <p:nvSpPr>
          <p:cNvPr id="23" name="TextBox 22"/>
          <p:cNvSpPr txBox="1"/>
          <p:nvPr/>
        </p:nvSpPr>
        <p:spPr>
          <a:xfrm>
            <a:off x="11369881" y="1791103"/>
            <a:ext cx="445956" cy="769441"/>
          </a:xfrm>
          <a:prstGeom prst="rect">
            <a:avLst/>
          </a:prstGeom>
          <a:noFill/>
        </p:spPr>
        <p:txBody>
          <a:bodyPr wrap="none" rtlCol="0">
            <a:spAutoFit/>
          </a:bodyPr>
          <a:lstStyle/>
          <a:p>
            <a:r>
              <a:rPr lang="en-US" sz="4400" dirty="0" smtClean="0"/>
              <a:t>?</a:t>
            </a:r>
            <a:endParaRPr lang="en-US" sz="4400" dirty="0"/>
          </a:p>
        </p:txBody>
      </p:sp>
      <p:pic>
        <p:nvPicPr>
          <p:cNvPr id="4" name="Picture 3"/>
          <p:cNvPicPr>
            <a:picLocks noChangeAspect="1"/>
          </p:cNvPicPr>
          <p:nvPr/>
        </p:nvPicPr>
        <p:blipFill>
          <a:blip r:embed="rId4"/>
          <a:stretch>
            <a:fillRect/>
          </a:stretch>
        </p:blipFill>
        <p:spPr>
          <a:xfrm>
            <a:off x="2669298" y="1155932"/>
            <a:ext cx="5243459" cy="1844819"/>
          </a:xfrm>
          <a:prstGeom prst="rect">
            <a:avLst/>
          </a:prstGeom>
        </p:spPr>
      </p:pic>
    </p:spTree>
    <p:extLst>
      <p:ext uri="{BB962C8B-B14F-4D97-AF65-F5344CB8AC3E}">
        <p14:creationId xmlns:p14="http://schemas.microsoft.com/office/powerpoint/2010/main" val="25603757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3143"/>
          </a:xfrm>
        </p:spPr>
        <p:txBody>
          <a:bodyPr/>
          <a:lstStyle/>
          <a:p>
            <a:r>
              <a:rPr lang="en-US" dirty="0" smtClean="0"/>
              <a:t>Conventional SIP Prediction</a:t>
            </a:r>
            <a:endParaRPr lang="en-US" dirty="0"/>
          </a:p>
        </p:txBody>
      </p:sp>
      <p:sp>
        <p:nvSpPr>
          <p:cNvPr id="5" name="Oval 4">
            <a:extLst>
              <a:ext uri="{FF2B5EF4-FFF2-40B4-BE49-F238E27FC236}">
                <a16:creationId xmlns:a16="http://schemas.microsoft.com/office/drawing/2014/main" xmlns="" id="{7F4B5A15-FF0C-4A42-B191-0B1264768FFA}"/>
              </a:ext>
            </a:extLst>
          </p:cNvPr>
          <p:cNvSpPr/>
          <p:nvPr/>
        </p:nvSpPr>
        <p:spPr>
          <a:xfrm>
            <a:off x="8191090" y="2483935"/>
            <a:ext cx="3886200" cy="12436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Neonatologist                            </a:t>
            </a:r>
            <a:endParaRPr lang="en-US" dirty="0"/>
          </a:p>
        </p:txBody>
      </p:sp>
      <p:sp>
        <p:nvSpPr>
          <p:cNvPr id="7" name="Rectangle: Rounded Corners 5">
            <a:extLst>
              <a:ext uri="{FF2B5EF4-FFF2-40B4-BE49-F238E27FC236}">
                <a16:creationId xmlns:a16="http://schemas.microsoft.com/office/drawing/2014/main" xmlns="" id="{878C79D7-7857-47AD-86D9-75EBF903E5C5}"/>
              </a:ext>
            </a:extLst>
          </p:cNvPr>
          <p:cNvSpPr/>
          <p:nvPr/>
        </p:nvSpPr>
        <p:spPr>
          <a:xfrm>
            <a:off x="474685" y="366212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a:solidFill>
                  <a:schemeClr val="bg2"/>
                </a:solidFill>
              </a:rPr>
              <a:t>Gestational </a:t>
            </a:r>
            <a:r>
              <a:rPr lang="en-US" sz="1600" dirty="0" smtClean="0">
                <a:solidFill>
                  <a:schemeClr val="bg2"/>
                </a:solidFill>
              </a:rPr>
              <a:t>Age</a:t>
            </a:r>
            <a:endParaRPr lang="en-US" sz="1600" dirty="0">
              <a:solidFill>
                <a:schemeClr val="bg2"/>
              </a:solidFill>
            </a:endParaRPr>
          </a:p>
        </p:txBody>
      </p:sp>
      <p:sp>
        <p:nvSpPr>
          <p:cNvPr id="8" name="Rectangle: Rounded Corners 7">
            <a:extLst>
              <a:ext uri="{FF2B5EF4-FFF2-40B4-BE49-F238E27FC236}">
                <a16:creationId xmlns:a16="http://schemas.microsoft.com/office/drawing/2014/main" xmlns="" id="{D5E5FE08-5C6B-4B34-B8DB-997DC7A013FE}"/>
              </a:ext>
            </a:extLst>
          </p:cNvPr>
          <p:cNvSpPr/>
          <p:nvPr/>
        </p:nvSpPr>
        <p:spPr>
          <a:xfrm>
            <a:off x="177505" y="1566413"/>
            <a:ext cx="2249424" cy="4760246"/>
          </a:xfrm>
          <a:prstGeom prst="roundRect">
            <a:avLst>
              <a:gd name="adj" fmla="val 931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9" name="TextBox 8">
            <a:extLst>
              <a:ext uri="{FF2B5EF4-FFF2-40B4-BE49-F238E27FC236}">
                <a16:creationId xmlns:a16="http://schemas.microsoft.com/office/drawing/2014/main" xmlns="" id="{8695EE34-41F2-4CE8-B7A4-68C19C84AEF0}"/>
              </a:ext>
            </a:extLst>
          </p:cNvPr>
          <p:cNvSpPr txBox="1"/>
          <p:nvPr/>
        </p:nvSpPr>
        <p:spPr>
          <a:xfrm>
            <a:off x="440832" y="6022990"/>
            <a:ext cx="1737079" cy="369332"/>
          </a:xfrm>
          <a:prstGeom prst="rect">
            <a:avLst/>
          </a:prstGeom>
          <a:noFill/>
        </p:spPr>
        <p:txBody>
          <a:bodyPr wrap="none" rtlCol="0">
            <a:spAutoFit/>
          </a:bodyPr>
          <a:lstStyle/>
          <a:p>
            <a:r>
              <a:rPr lang="en-US" dirty="0" smtClean="0"/>
              <a:t>Clinical Evidence</a:t>
            </a:r>
            <a:endParaRPr lang="en-US" dirty="0"/>
          </a:p>
        </p:txBody>
      </p:sp>
      <p:sp>
        <p:nvSpPr>
          <p:cNvPr id="10" name="Arrow: Right 9">
            <a:extLst>
              <a:ext uri="{FF2B5EF4-FFF2-40B4-BE49-F238E27FC236}">
                <a16:creationId xmlns:a16="http://schemas.microsoft.com/office/drawing/2014/main" xmlns="" id="{AD4B9368-5F3C-414D-BF2F-02C6D7AFF0FC}"/>
              </a:ext>
            </a:extLst>
          </p:cNvPr>
          <p:cNvSpPr/>
          <p:nvPr/>
        </p:nvSpPr>
        <p:spPr>
          <a:xfrm>
            <a:off x="7224456" y="3032625"/>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4">
            <a:extLst>
              <a:ext uri="{FF2B5EF4-FFF2-40B4-BE49-F238E27FC236}">
                <a16:creationId xmlns:a16="http://schemas.microsoft.com/office/drawing/2014/main" xmlns="" id="{BC84B39E-203D-4D02-8B41-A8DF55BE37F8}"/>
              </a:ext>
            </a:extLst>
          </p:cNvPr>
          <p:cNvSpPr/>
          <p:nvPr/>
        </p:nvSpPr>
        <p:spPr>
          <a:xfrm>
            <a:off x="474685" y="1725821"/>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Birth Weight</a:t>
            </a:r>
            <a:endParaRPr lang="en-US" dirty="0"/>
          </a:p>
        </p:txBody>
      </p:sp>
      <p:sp>
        <p:nvSpPr>
          <p:cNvPr id="14" name="Rectangle: Rounded Corners 4">
            <a:extLst>
              <a:ext uri="{FF2B5EF4-FFF2-40B4-BE49-F238E27FC236}">
                <a16:creationId xmlns:a16="http://schemas.microsoft.com/office/drawing/2014/main" xmlns="" id="{BC84B39E-203D-4D02-8B41-A8DF55BE37F8}"/>
              </a:ext>
            </a:extLst>
          </p:cNvPr>
          <p:cNvSpPr/>
          <p:nvPr/>
        </p:nvSpPr>
        <p:spPr>
          <a:xfrm>
            <a:off x="461763" y="2210588"/>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Apgar_5</a:t>
            </a:r>
            <a:endParaRPr lang="en-US" dirty="0">
              <a:solidFill>
                <a:schemeClr val="bg2"/>
              </a:solidFill>
            </a:endParaRPr>
          </a:p>
        </p:txBody>
      </p:sp>
      <p:sp>
        <p:nvSpPr>
          <p:cNvPr id="15" name="Rectangle: Rounded Corners 4">
            <a:extLst>
              <a:ext uri="{FF2B5EF4-FFF2-40B4-BE49-F238E27FC236}">
                <a16:creationId xmlns:a16="http://schemas.microsoft.com/office/drawing/2014/main" xmlns="" id="{BC84B39E-203D-4D02-8B41-A8DF55BE37F8}"/>
              </a:ext>
            </a:extLst>
          </p:cNvPr>
          <p:cNvSpPr/>
          <p:nvPr/>
        </p:nvSpPr>
        <p:spPr>
          <a:xfrm>
            <a:off x="474685" y="2694434"/>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Race</a:t>
            </a:r>
            <a:endParaRPr lang="en-US" dirty="0">
              <a:solidFill>
                <a:schemeClr val="bg2"/>
              </a:solidFill>
            </a:endParaRPr>
          </a:p>
        </p:txBody>
      </p:sp>
      <p:sp>
        <p:nvSpPr>
          <p:cNvPr id="16" name="Rectangle: Rounded Corners 4">
            <a:extLst>
              <a:ext uri="{FF2B5EF4-FFF2-40B4-BE49-F238E27FC236}">
                <a16:creationId xmlns:a16="http://schemas.microsoft.com/office/drawing/2014/main" xmlns="" id="{BC84B39E-203D-4D02-8B41-A8DF55BE37F8}"/>
              </a:ext>
            </a:extLst>
          </p:cNvPr>
          <p:cNvSpPr/>
          <p:nvPr/>
        </p:nvSpPr>
        <p:spPr>
          <a:xfrm>
            <a:off x="481840" y="3178280"/>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Sex</a:t>
            </a:r>
            <a:endParaRPr lang="en-US" dirty="0">
              <a:solidFill>
                <a:schemeClr val="bg2"/>
              </a:solidFill>
            </a:endParaRPr>
          </a:p>
        </p:txBody>
      </p:sp>
      <p:sp>
        <p:nvSpPr>
          <p:cNvPr id="17" name="Rectangle: Rounded Corners 5">
            <a:extLst>
              <a:ext uri="{FF2B5EF4-FFF2-40B4-BE49-F238E27FC236}">
                <a16:creationId xmlns:a16="http://schemas.microsoft.com/office/drawing/2014/main" xmlns="" id="{878C79D7-7857-47AD-86D9-75EBF903E5C5}"/>
              </a:ext>
            </a:extLst>
          </p:cNvPr>
          <p:cNvSpPr/>
          <p:nvPr/>
        </p:nvSpPr>
        <p:spPr>
          <a:xfrm>
            <a:off x="481840" y="419205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tx1"/>
                </a:solidFill>
              </a:rPr>
              <a:t>IVH</a:t>
            </a:r>
            <a:endParaRPr lang="en-US" sz="1600" dirty="0">
              <a:solidFill>
                <a:schemeClr val="tx1"/>
              </a:solidFill>
            </a:endParaRPr>
          </a:p>
        </p:txBody>
      </p:sp>
      <p:sp>
        <p:nvSpPr>
          <p:cNvPr id="18" name="Rectangle: Rounded Corners 5">
            <a:extLst>
              <a:ext uri="{FF2B5EF4-FFF2-40B4-BE49-F238E27FC236}">
                <a16:creationId xmlns:a16="http://schemas.microsoft.com/office/drawing/2014/main" xmlns="" id="{878C79D7-7857-47AD-86D9-75EBF903E5C5}"/>
              </a:ext>
            </a:extLst>
          </p:cNvPr>
          <p:cNvSpPr/>
          <p:nvPr/>
        </p:nvSpPr>
        <p:spPr>
          <a:xfrm>
            <a:off x="474685" y="472197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Preterm Labor</a:t>
            </a:r>
            <a:endParaRPr lang="en-US" sz="1600" dirty="0">
              <a:solidFill>
                <a:schemeClr val="bg2"/>
              </a:solidFill>
            </a:endParaRPr>
          </a:p>
        </p:txBody>
      </p:sp>
      <p:sp>
        <p:nvSpPr>
          <p:cNvPr id="19" name="Rectangle: Rounded Corners 5">
            <a:extLst>
              <a:ext uri="{FF2B5EF4-FFF2-40B4-BE49-F238E27FC236}">
                <a16:creationId xmlns:a16="http://schemas.microsoft.com/office/drawing/2014/main" xmlns="" id="{878C79D7-7857-47AD-86D9-75EBF903E5C5}"/>
              </a:ext>
            </a:extLst>
          </p:cNvPr>
          <p:cNvSpPr/>
          <p:nvPr/>
        </p:nvSpPr>
        <p:spPr>
          <a:xfrm>
            <a:off x="474685" y="525190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Multiple Gest</a:t>
            </a:r>
            <a:endParaRPr lang="en-US" sz="1600" dirty="0">
              <a:solidFill>
                <a:schemeClr val="bg2"/>
              </a:solidFill>
            </a:endParaRPr>
          </a:p>
        </p:txBody>
      </p:sp>
      <p:sp>
        <p:nvSpPr>
          <p:cNvPr id="3" name="TextBox 2"/>
          <p:cNvSpPr txBox="1"/>
          <p:nvPr/>
        </p:nvSpPr>
        <p:spPr>
          <a:xfrm>
            <a:off x="1117613" y="5653658"/>
            <a:ext cx="343364" cy="369332"/>
          </a:xfrm>
          <a:prstGeom prst="rect">
            <a:avLst/>
          </a:prstGeom>
          <a:noFill/>
        </p:spPr>
        <p:txBody>
          <a:bodyPr wrap="none" rtlCol="0">
            <a:spAutoFit/>
          </a:bodyPr>
          <a:lstStyle/>
          <a:p>
            <a:r>
              <a:rPr lang="en-US" dirty="0" smtClean="0"/>
              <a:t>…</a:t>
            </a:r>
            <a:endParaRPr lang="en-US" dirty="0"/>
          </a:p>
        </p:txBody>
      </p:sp>
      <p:pic>
        <p:nvPicPr>
          <p:cNvPr id="20" name="Picture 19"/>
          <p:cNvPicPr>
            <a:picLocks noChangeAspect="1"/>
          </p:cNvPicPr>
          <p:nvPr/>
        </p:nvPicPr>
        <p:blipFill>
          <a:blip r:embed="rId3"/>
          <a:stretch>
            <a:fillRect/>
          </a:stretch>
        </p:blipFill>
        <p:spPr>
          <a:xfrm>
            <a:off x="10695032" y="1902081"/>
            <a:ext cx="990600" cy="1209675"/>
          </a:xfrm>
          <a:prstGeom prst="rect">
            <a:avLst/>
          </a:prstGeom>
        </p:spPr>
      </p:pic>
      <p:sp>
        <p:nvSpPr>
          <p:cNvPr id="21" name="Curved Left Arrow 20"/>
          <p:cNvSpPr/>
          <p:nvPr/>
        </p:nvSpPr>
        <p:spPr>
          <a:xfrm rot="16200000">
            <a:off x="9526966" y="1562146"/>
            <a:ext cx="507040" cy="1186910"/>
          </a:xfrm>
          <a:prstGeom prst="curvedLeftArrow">
            <a:avLst>
              <a:gd name="adj1" fmla="val 12841"/>
              <a:gd name="adj2" fmla="val 27694"/>
              <a:gd name="adj3" fmla="val 1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TextBox 21"/>
          <p:cNvSpPr txBox="1"/>
          <p:nvPr/>
        </p:nvSpPr>
        <p:spPr>
          <a:xfrm>
            <a:off x="8269833" y="1573715"/>
            <a:ext cx="3323026" cy="369332"/>
          </a:xfrm>
          <a:prstGeom prst="rect">
            <a:avLst/>
          </a:prstGeom>
          <a:noFill/>
        </p:spPr>
        <p:txBody>
          <a:bodyPr wrap="none" rtlCol="0">
            <a:spAutoFit/>
          </a:bodyPr>
          <a:lstStyle/>
          <a:p>
            <a:r>
              <a:rPr lang="en-US" dirty="0" smtClean="0"/>
              <a:t>Clinical Knowledge &amp; Experiences</a:t>
            </a:r>
            <a:endParaRPr lang="en-US" dirty="0"/>
          </a:p>
        </p:txBody>
      </p:sp>
      <p:sp>
        <p:nvSpPr>
          <p:cNvPr id="23" name="TextBox 22"/>
          <p:cNvSpPr txBox="1"/>
          <p:nvPr/>
        </p:nvSpPr>
        <p:spPr>
          <a:xfrm>
            <a:off x="11369881" y="1791103"/>
            <a:ext cx="445956" cy="769441"/>
          </a:xfrm>
          <a:prstGeom prst="rect">
            <a:avLst/>
          </a:prstGeom>
          <a:noFill/>
        </p:spPr>
        <p:txBody>
          <a:bodyPr wrap="none" rtlCol="0">
            <a:spAutoFit/>
          </a:bodyPr>
          <a:lstStyle/>
          <a:p>
            <a:r>
              <a:rPr lang="en-US" sz="4400" dirty="0" smtClean="0"/>
              <a:t>?</a:t>
            </a:r>
            <a:endParaRPr lang="en-US" sz="4400" dirty="0"/>
          </a:p>
        </p:txBody>
      </p:sp>
      <p:pic>
        <p:nvPicPr>
          <p:cNvPr id="4" name="Picture 3"/>
          <p:cNvPicPr>
            <a:picLocks noChangeAspect="1"/>
          </p:cNvPicPr>
          <p:nvPr/>
        </p:nvPicPr>
        <p:blipFill>
          <a:blip r:embed="rId4"/>
          <a:stretch>
            <a:fillRect/>
          </a:stretch>
        </p:blipFill>
        <p:spPr>
          <a:xfrm>
            <a:off x="2515739" y="3373655"/>
            <a:ext cx="5696560" cy="2554013"/>
          </a:xfrm>
          <a:prstGeom prst="rect">
            <a:avLst/>
          </a:prstGeom>
        </p:spPr>
      </p:pic>
      <p:pic>
        <p:nvPicPr>
          <p:cNvPr id="11" name="Picture 10"/>
          <p:cNvPicPr>
            <a:picLocks noChangeAspect="1"/>
          </p:cNvPicPr>
          <p:nvPr/>
        </p:nvPicPr>
        <p:blipFill>
          <a:blip r:embed="rId5"/>
          <a:stretch>
            <a:fillRect/>
          </a:stretch>
        </p:blipFill>
        <p:spPr>
          <a:xfrm>
            <a:off x="2556300" y="1662994"/>
            <a:ext cx="5426676" cy="1327978"/>
          </a:xfrm>
          <a:prstGeom prst="rect">
            <a:avLst/>
          </a:prstGeom>
        </p:spPr>
      </p:pic>
    </p:spTree>
    <p:extLst>
      <p:ext uri="{BB962C8B-B14F-4D97-AF65-F5344CB8AC3E}">
        <p14:creationId xmlns:p14="http://schemas.microsoft.com/office/powerpoint/2010/main" val="26469403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3143"/>
          </a:xfrm>
        </p:spPr>
        <p:txBody>
          <a:bodyPr/>
          <a:lstStyle/>
          <a:p>
            <a:r>
              <a:rPr lang="en-US" dirty="0" smtClean="0"/>
              <a:t>Conventional SIP Prediction</a:t>
            </a:r>
            <a:endParaRPr lang="en-US" dirty="0"/>
          </a:p>
        </p:txBody>
      </p:sp>
      <p:sp>
        <p:nvSpPr>
          <p:cNvPr id="5" name="Oval 4">
            <a:extLst>
              <a:ext uri="{FF2B5EF4-FFF2-40B4-BE49-F238E27FC236}">
                <a16:creationId xmlns:a16="http://schemas.microsoft.com/office/drawing/2014/main" xmlns="" id="{7F4B5A15-FF0C-4A42-B191-0B1264768FFA}"/>
              </a:ext>
            </a:extLst>
          </p:cNvPr>
          <p:cNvSpPr/>
          <p:nvPr/>
        </p:nvSpPr>
        <p:spPr>
          <a:xfrm>
            <a:off x="8191090" y="2483935"/>
            <a:ext cx="3886200" cy="12436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Neonatologist                            </a:t>
            </a:r>
            <a:endParaRPr lang="en-US" dirty="0"/>
          </a:p>
        </p:txBody>
      </p:sp>
      <p:sp>
        <p:nvSpPr>
          <p:cNvPr id="7" name="Rectangle: Rounded Corners 5">
            <a:extLst>
              <a:ext uri="{FF2B5EF4-FFF2-40B4-BE49-F238E27FC236}">
                <a16:creationId xmlns:a16="http://schemas.microsoft.com/office/drawing/2014/main" xmlns="" id="{878C79D7-7857-47AD-86D9-75EBF903E5C5}"/>
              </a:ext>
            </a:extLst>
          </p:cNvPr>
          <p:cNvSpPr/>
          <p:nvPr/>
        </p:nvSpPr>
        <p:spPr>
          <a:xfrm>
            <a:off x="474685" y="366212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a:solidFill>
                  <a:schemeClr val="bg2"/>
                </a:solidFill>
              </a:rPr>
              <a:t>Gestational </a:t>
            </a:r>
            <a:r>
              <a:rPr lang="en-US" sz="1600" dirty="0" smtClean="0">
                <a:solidFill>
                  <a:schemeClr val="bg2"/>
                </a:solidFill>
              </a:rPr>
              <a:t>Age</a:t>
            </a:r>
            <a:endParaRPr lang="en-US" sz="1600" dirty="0">
              <a:solidFill>
                <a:schemeClr val="bg2"/>
              </a:solidFill>
            </a:endParaRPr>
          </a:p>
        </p:txBody>
      </p:sp>
      <p:sp>
        <p:nvSpPr>
          <p:cNvPr id="8" name="Rectangle: Rounded Corners 7">
            <a:extLst>
              <a:ext uri="{FF2B5EF4-FFF2-40B4-BE49-F238E27FC236}">
                <a16:creationId xmlns:a16="http://schemas.microsoft.com/office/drawing/2014/main" xmlns="" id="{D5E5FE08-5C6B-4B34-B8DB-997DC7A013FE}"/>
              </a:ext>
            </a:extLst>
          </p:cNvPr>
          <p:cNvSpPr/>
          <p:nvPr/>
        </p:nvSpPr>
        <p:spPr>
          <a:xfrm>
            <a:off x="177505" y="1566413"/>
            <a:ext cx="2249424" cy="4760246"/>
          </a:xfrm>
          <a:prstGeom prst="roundRect">
            <a:avLst>
              <a:gd name="adj" fmla="val 931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9" name="TextBox 8">
            <a:extLst>
              <a:ext uri="{FF2B5EF4-FFF2-40B4-BE49-F238E27FC236}">
                <a16:creationId xmlns:a16="http://schemas.microsoft.com/office/drawing/2014/main" xmlns="" id="{8695EE34-41F2-4CE8-B7A4-68C19C84AEF0}"/>
              </a:ext>
            </a:extLst>
          </p:cNvPr>
          <p:cNvSpPr txBox="1"/>
          <p:nvPr/>
        </p:nvSpPr>
        <p:spPr>
          <a:xfrm>
            <a:off x="440832" y="6022990"/>
            <a:ext cx="1737079" cy="369332"/>
          </a:xfrm>
          <a:prstGeom prst="rect">
            <a:avLst/>
          </a:prstGeom>
          <a:noFill/>
        </p:spPr>
        <p:txBody>
          <a:bodyPr wrap="none" rtlCol="0">
            <a:spAutoFit/>
          </a:bodyPr>
          <a:lstStyle/>
          <a:p>
            <a:r>
              <a:rPr lang="en-US" dirty="0" smtClean="0"/>
              <a:t>Clinical Evidence</a:t>
            </a:r>
            <a:endParaRPr lang="en-US" dirty="0"/>
          </a:p>
        </p:txBody>
      </p:sp>
      <p:sp>
        <p:nvSpPr>
          <p:cNvPr id="10" name="Arrow: Right 9">
            <a:extLst>
              <a:ext uri="{FF2B5EF4-FFF2-40B4-BE49-F238E27FC236}">
                <a16:creationId xmlns:a16="http://schemas.microsoft.com/office/drawing/2014/main" xmlns="" id="{AD4B9368-5F3C-414D-BF2F-02C6D7AFF0FC}"/>
              </a:ext>
            </a:extLst>
          </p:cNvPr>
          <p:cNvSpPr/>
          <p:nvPr/>
        </p:nvSpPr>
        <p:spPr>
          <a:xfrm>
            <a:off x="7224456" y="3032625"/>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4">
            <a:extLst>
              <a:ext uri="{FF2B5EF4-FFF2-40B4-BE49-F238E27FC236}">
                <a16:creationId xmlns:a16="http://schemas.microsoft.com/office/drawing/2014/main" xmlns="" id="{BC84B39E-203D-4D02-8B41-A8DF55BE37F8}"/>
              </a:ext>
            </a:extLst>
          </p:cNvPr>
          <p:cNvSpPr/>
          <p:nvPr/>
        </p:nvSpPr>
        <p:spPr>
          <a:xfrm>
            <a:off x="474685" y="1725821"/>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Birth Weight</a:t>
            </a:r>
            <a:endParaRPr lang="en-US" dirty="0"/>
          </a:p>
        </p:txBody>
      </p:sp>
      <p:sp>
        <p:nvSpPr>
          <p:cNvPr id="14" name="Rectangle: Rounded Corners 4">
            <a:extLst>
              <a:ext uri="{FF2B5EF4-FFF2-40B4-BE49-F238E27FC236}">
                <a16:creationId xmlns:a16="http://schemas.microsoft.com/office/drawing/2014/main" xmlns="" id="{BC84B39E-203D-4D02-8B41-A8DF55BE37F8}"/>
              </a:ext>
            </a:extLst>
          </p:cNvPr>
          <p:cNvSpPr/>
          <p:nvPr/>
        </p:nvSpPr>
        <p:spPr>
          <a:xfrm>
            <a:off x="461763" y="2210588"/>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Apgar_5</a:t>
            </a:r>
            <a:endParaRPr lang="en-US" dirty="0">
              <a:solidFill>
                <a:schemeClr val="bg2"/>
              </a:solidFill>
            </a:endParaRPr>
          </a:p>
        </p:txBody>
      </p:sp>
      <p:sp>
        <p:nvSpPr>
          <p:cNvPr id="15" name="Rectangle: Rounded Corners 4">
            <a:extLst>
              <a:ext uri="{FF2B5EF4-FFF2-40B4-BE49-F238E27FC236}">
                <a16:creationId xmlns:a16="http://schemas.microsoft.com/office/drawing/2014/main" xmlns="" id="{BC84B39E-203D-4D02-8B41-A8DF55BE37F8}"/>
              </a:ext>
            </a:extLst>
          </p:cNvPr>
          <p:cNvSpPr/>
          <p:nvPr/>
        </p:nvSpPr>
        <p:spPr>
          <a:xfrm>
            <a:off x="474685" y="2694434"/>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Race</a:t>
            </a:r>
            <a:endParaRPr lang="en-US" dirty="0">
              <a:solidFill>
                <a:schemeClr val="bg2"/>
              </a:solidFill>
            </a:endParaRPr>
          </a:p>
        </p:txBody>
      </p:sp>
      <p:sp>
        <p:nvSpPr>
          <p:cNvPr id="16" name="Rectangle: Rounded Corners 4">
            <a:extLst>
              <a:ext uri="{FF2B5EF4-FFF2-40B4-BE49-F238E27FC236}">
                <a16:creationId xmlns:a16="http://schemas.microsoft.com/office/drawing/2014/main" xmlns="" id="{BC84B39E-203D-4D02-8B41-A8DF55BE37F8}"/>
              </a:ext>
            </a:extLst>
          </p:cNvPr>
          <p:cNvSpPr/>
          <p:nvPr/>
        </p:nvSpPr>
        <p:spPr>
          <a:xfrm>
            <a:off x="481840" y="3178280"/>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Sex</a:t>
            </a:r>
            <a:endParaRPr lang="en-US" dirty="0">
              <a:solidFill>
                <a:schemeClr val="bg2"/>
              </a:solidFill>
            </a:endParaRPr>
          </a:p>
        </p:txBody>
      </p:sp>
      <p:sp>
        <p:nvSpPr>
          <p:cNvPr id="17" name="Rectangle: Rounded Corners 5">
            <a:extLst>
              <a:ext uri="{FF2B5EF4-FFF2-40B4-BE49-F238E27FC236}">
                <a16:creationId xmlns:a16="http://schemas.microsoft.com/office/drawing/2014/main" xmlns="" id="{878C79D7-7857-47AD-86D9-75EBF903E5C5}"/>
              </a:ext>
            </a:extLst>
          </p:cNvPr>
          <p:cNvSpPr/>
          <p:nvPr/>
        </p:nvSpPr>
        <p:spPr>
          <a:xfrm>
            <a:off x="481840" y="419205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tx1"/>
                </a:solidFill>
              </a:rPr>
              <a:t>IVH</a:t>
            </a:r>
            <a:endParaRPr lang="en-US" sz="1600" dirty="0">
              <a:solidFill>
                <a:schemeClr val="tx1"/>
              </a:solidFill>
            </a:endParaRPr>
          </a:p>
        </p:txBody>
      </p:sp>
      <p:sp>
        <p:nvSpPr>
          <p:cNvPr id="18" name="Rectangle: Rounded Corners 5">
            <a:extLst>
              <a:ext uri="{FF2B5EF4-FFF2-40B4-BE49-F238E27FC236}">
                <a16:creationId xmlns:a16="http://schemas.microsoft.com/office/drawing/2014/main" xmlns="" id="{878C79D7-7857-47AD-86D9-75EBF903E5C5}"/>
              </a:ext>
            </a:extLst>
          </p:cNvPr>
          <p:cNvSpPr/>
          <p:nvPr/>
        </p:nvSpPr>
        <p:spPr>
          <a:xfrm>
            <a:off x="474685" y="472197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Preterm Labor</a:t>
            </a:r>
            <a:endParaRPr lang="en-US" sz="1600" dirty="0">
              <a:solidFill>
                <a:schemeClr val="bg2"/>
              </a:solidFill>
            </a:endParaRPr>
          </a:p>
        </p:txBody>
      </p:sp>
      <p:sp>
        <p:nvSpPr>
          <p:cNvPr id="19" name="Rectangle: Rounded Corners 5">
            <a:extLst>
              <a:ext uri="{FF2B5EF4-FFF2-40B4-BE49-F238E27FC236}">
                <a16:creationId xmlns:a16="http://schemas.microsoft.com/office/drawing/2014/main" xmlns="" id="{878C79D7-7857-47AD-86D9-75EBF903E5C5}"/>
              </a:ext>
            </a:extLst>
          </p:cNvPr>
          <p:cNvSpPr/>
          <p:nvPr/>
        </p:nvSpPr>
        <p:spPr>
          <a:xfrm>
            <a:off x="474685" y="525190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Multiple Gest</a:t>
            </a:r>
            <a:endParaRPr lang="en-US" sz="1600" dirty="0">
              <a:solidFill>
                <a:schemeClr val="bg2"/>
              </a:solidFill>
            </a:endParaRPr>
          </a:p>
        </p:txBody>
      </p:sp>
      <p:sp>
        <p:nvSpPr>
          <p:cNvPr id="3" name="TextBox 2"/>
          <p:cNvSpPr txBox="1"/>
          <p:nvPr/>
        </p:nvSpPr>
        <p:spPr>
          <a:xfrm>
            <a:off x="1117613" y="5653658"/>
            <a:ext cx="343364" cy="369332"/>
          </a:xfrm>
          <a:prstGeom prst="rect">
            <a:avLst/>
          </a:prstGeom>
          <a:noFill/>
        </p:spPr>
        <p:txBody>
          <a:bodyPr wrap="none" rtlCol="0">
            <a:spAutoFit/>
          </a:bodyPr>
          <a:lstStyle/>
          <a:p>
            <a:r>
              <a:rPr lang="en-US" dirty="0" smtClean="0"/>
              <a:t>…</a:t>
            </a:r>
            <a:endParaRPr lang="en-US" dirty="0"/>
          </a:p>
        </p:txBody>
      </p:sp>
      <p:pic>
        <p:nvPicPr>
          <p:cNvPr id="20" name="Picture 19"/>
          <p:cNvPicPr>
            <a:picLocks noChangeAspect="1"/>
          </p:cNvPicPr>
          <p:nvPr/>
        </p:nvPicPr>
        <p:blipFill>
          <a:blip r:embed="rId3"/>
          <a:stretch>
            <a:fillRect/>
          </a:stretch>
        </p:blipFill>
        <p:spPr>
          <a:xfrm>
            <a:off x="10695032" y="1902081"/>
            <a:ext cx="990600" cy="1209675"/>
          </a:xfrm>
          <a:prstGeom prst="rect">
            <a:avLst/>
          </a:prstGeom>
        </p:spPr>
      </p:pic>
      <p:sp>
        <p:nvSpPr>
          <p:cNvPr id="21" name="Curved Left Arrow 20"/>
          <p:cNvSpPr/>
          <p:nvPr/>
        </p:nvSpPr>
        <p:spPr>
          <a:xfrm rot="16200000">
            <a:off x="9526966" y="1562146"/>
            <a:ext cx="507040" cy="1186910"/>
          </a:xfrm>
          <a:prstGeom prst="curvedLeftArrow">
            <a:avLst>
              <a:gd name="adj1" fmla="val 12841"/>
              <a:gd name="adj2" fmla="val 27694"/>
              <a:gd name="adj3" fmla="val 1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TextBox 21"/>
          <p:cNvSpPr txBox="1"/>
          <p:nvPr/>
        </p:nvSpPr>
        <p:spPr>
          <a:xfrm>
            <a:off x="8269833" y="1573715"/>
            <a:ext cx="3323026" cy="369332"/>
          </a:xfrm>
          <a:prstGeom prst="rect">
            <a:avLst/>
          </a:prstGeom>
          <a:noFill/>
        </p:spPr>
        <p:txBody>
          <a:bodyPr wrap="none" rtlCol="0">
            <a:spAutoFit/>
          </a:bodyPr>
          <a:lstStyle/>
          <a:p>
            <a:r>
              <a:rPr lang="en-US" dirty="0" smtClean="0"/>
              <a:t>Clinical Knowledge &amp; Experiences</a:t>
            </a:r>
            <a:endParaRPr lang="en-US" dirty="0"/>
          </a:p>
        </p:txBody>
      </p:sp>
      <p:sp>
        <p:nvSpPr>
          <p:cNvPr id="23" name="TextBox 22"/>
          <p:cNvSpPr txBox="1"/>
          <p:nvPr/>
        </p:nvSpPr>
        <p:spPr>
          <a:xfrm>
            <a:off x="11369881" y="1791103"/>
            <a:ext cx="445956" cy="769441"/>
          </a:xfrm>
          <a:prstGeom prst="rect">
            <a:avLst/>
          </a:prstGeom>
          <a:noFill/>
        </p:spPr>
        <p:txBody>
          <a:bodyPr wrap="none" rtlCol="0">
            <a:spAutoFit/>
          </a:bodyPr>
          <a:lstStyle/>
          <a:p>
            <a:r>
              <a:rPr lang="en-US" sz="4400" dirty="0" smtClean="0"/>
              <a:t>?</a:t>
            </a:r>
            <a:endParaRPr lang="en-US" sz="4400" dirty="0"/>
          </a:p>
        </p:txBody>
      </p:sp>
      <p:pic>
        <p:nvPicPr>
          <p:cNvPr id="6" name="Picture 5"/>
          <p:cNvPicPr>
            <a:picLocks noChangeAspect="1"/>
          </p:cNvPicPr>
          <p:nvPr/>
        </p:nvPicPr>
        <p:blipFill rotWithShape="1">
          <a:blip r:embed="rId4"/>
          <a:srcRect l="10478" t="43707" r="12997"/>
          <a:stretch/>
        </p:blipFill>
        <p:spPr>
          <a:xfrm>
            <a:off x="2609028" y="1309124"/>
            <a:ext cx="4203511" cy="1692953"/>
          </a:xfrm>
          <a:prstGeom prst="rect">
            <a:avLst/>
          </a:prstGeom>
        </p:spPr>
      </p:pic>
      <p:pic>
        <p:nvPicPr>
          <p:cNvPr id="24" name="Picture 23"/>
          <p:cNvPicPr>
            <a:picLocks noChangeAspect="1"/>
          </p:cNvPicPr>
          <p:nvPr/>
        </p:nvPicPr>
        <p:blipFill>
          <a:blip r:embed="rId5"/>
          <a:stretch>
            <a:fillRect/>
          </a:stretch>
        </p:blipFill>
        <p:spPr>
          <a:xfrm>
            <a:off x="2609028" y="2429200"/>
            <a:ext cx="4878359" cy="4298729"/>
          </a:xfrm>
          <a:prstGeom prst="rect">
            <a:avLst/>
          </a:prstGeom>
        </p:spPr>
      </p:pic>
    </p:spTree>
    <p:extLst>
      <p:ext uri="{BB962C8B-B14F-4D97-AF65-F5344CB8AC3E}">
        <p14:creationId xmlns:p14="http://schemas.microsoft.com/office/powerpoint/2010/main" val="29213345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3143"/>
          </a:xfrm>
        </p:spPr>
        <p:txBody>
          <a:bodyPr/>
          <a:lstStyle/>
          <a:p>
            <a:r>
              <a:rPr lang="en-US" dirty="0" smtClean="0"/>
              <a:t>Conventional SIP Prediction</a:t>
            </a:r>
            <a:endParaRPr lang="en-US" dirty="0"/>
          </a:p>
        </p:txBody>
      </p:sp>
      <p:sp>
        <p:nvSpPr>
          <p:cNvPr id="5" name="Oval 4">
            <a:extLst>
              <a:ext uri="{FF2B5EF4-FFF2-40B4-BE49-F238E27FC236}">
                <a16:creationId xmlns:a16="http://schemas.microsoft.com/office/drawing/2014/main" xmlns="" id="{7F4B5A15-FF0C-4A42-B191-0B1264768FFA}"/>
              </a:ext>
            </a:extLst>
          </p:cNvPr>
          <p:cNvSpPr/>
          <p:nvPr/>
        </p:nvSpPr>
        <p:spPr>
          <a:xfrm>
            <a:off x="8191090" y="2483935"/>
            <a:ext cx="3886200" cy="12436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Neonatologist                            </a:t>
            </a:r>
            <a:endParaRPr lang="en-US" dirty="0"/>
          </a:p>
        </p:txBody>
      </p:sp>
      <p:sp>
        <p:nvSpPr>
          <p:cNvPr id="7" name="Rectangle: Rounded Corners 5">
            <a:extLst>
              <a:ext uri="{FF2B5EF4-FFF2-40B4-BE49-F238E27FC236}">
                <a16:creationId xmlns:a16="http://schemas.microsoft.com/office/drawing/2014/main" xmlns="" id="{878C79D7-7857-47AD-86D9-75EBF903E5C5}"/>
              </a:ext>
            </a:extLst>
          </p:cNvPr>
          <p:cNvSpPr/>
          <p:nvPr/>
        </p:nvSpPr>
        <p:spPr>
          <a:xfrm>
            <a:off x="474685" y="366212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a:solidFill>
                  <a:schemeClr val="tx1"/>
                </a:solidFill>
              </a:rPr>
              <a:t>Gestational </a:t>
            </a:r>
            <a:r>
              <a:rPr lang="en-US" sz="1600" dirty="0" smtClean="0">
                <a:solidFill>
                  <a:schemeClr val="tx1"/>
                </a:solidFill>
              </a:rPr>
              <a:t>Age</a:t>
            </a:r>
            <a:endParaRPr lang="en-US" sz="1600" dirty="0">
              <a:solidFill>
                <a:schemeClr val="tx1"/>
              </a:solidFill>
            </a:endParaRPr>
          </a:p>
        </p:txBody>
      </p:sp>
      <p:sp>
        <p:nvSpPr>
          <p:cNvPr id="8" name="Rectangle: Rounded Corners 7">
            <a:extLst>
              <a:ext uri="{FF2B5EF4-FFF2-40B4-BE49-F238E27FC236}">
                <a16:creationId xmlns:a16="http://schemas.microsoft.com/office/drawing/2014/main" xmlns="" id="{D5E5FE08-5C6B-4B34-B8DB-997DC7A013FE}"/>
              </a:ext>
            </a:extLst>
          </p:cNvPr>
          <p:cNvSpPr/>
          <p:nvPr/>
        </p:nvSpPr>
        <p:spPr>
          <a:xfrm>
            <a:off x="177505" y="1566413"/>
            <a:ext cx="2249424" cy="4760246"/>
          </a:xfrm>
          <a:prstGeom prst="roundRect">
            <a:avLst>
              <a:gd name="adj" fmla="val 931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9" name="TextBox 8">
            <a:extLst>
              <a:ext uri="{FF2B5EF4-FFF2-40B4-BE49-F238E27FC236}">
                <a16:creationId xmlns:a16="http://schemas.microsoft.com/office/drawing/2014/main" xmlns="" id="{8695EE34-41F2-4CE8-B7A4-68C19C84AEF0}"/>
              </a:ext>
            </a:extLst>
          </p:cNvPr>
          <p:cNvSpPr txBox="1"/>
          <p:nvPr/>
        </p:nvSpPr>
        <p:spPr>
          <a:xfrm>
            <a:off x="440832" y="6022990"/>
            <a:ext cx="1737079" cy="369332"/>
          </a:xfrm>
          <a:prstGeom prst="rect">
            <a:avLst/>
          </a:prstGeom>
          <a:noFill/>
        </p:spPr>
        <p:txBody>
          <a:bodyPr wrap="none" rtlCol="0">
            <a:spAutoFit/>
          </a:bodyPr>
          <a:lstStyle/>
          <a:p>
            <a:r>
              <a:rPr lang="en-US" dirty="0" smtClean="0"/>
              <a:t>Clinical Evidence</a:t>
            </a:r>
            <a:endParaRPr lang="en-US" dirty="0"/>
          </a:p>
        </p:txBody>
      </p:sp>
      <p:sp>
        <p:nvSpPr>
          <p:cNvPr id="10" name="Arrow: Right 9">
            <a:extLst>
              <a:ext uri="{FF2B5EF4-FFF2-40B4-BE49-F238E27FC236}">
                <a16:creationId xmlns:a16="http://schemas.microsoft.com/office/drawing/2014/main" xmlns="" id="{AD4B9368-5F3C-414D-BF2F-02C6D7AFF0FC}"/>
              </a:ext>
            </a:extLst>
          </p:cNvPr>
          <p:cNvSpPr/>
          <p:nvPr/>
        </p:nvSpPr>
        <p:spPr>
          <a:xfrm>
            <a:off x="7224456" y="3032625"/>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4">
            <a:extLst>
              <a:ext uri="{FF2B5EF4-FFF2-40B4-BE49-F238E27FC236}">
                <a16:creationId xmlns:a16="http://schemas.microsoft.com/office/drawing/2014/main" xmlns="" id="{BC84B39E-203D-4D02-8B41-A8DF55BE37F8}"/>
              </a:ext>
            </a:extLst>
          </p:cNvPr>
          <p:cNvSpPr/>
          <p:nvPr/>
        </p:nvSpPr>
        <p:spPr>
          <a:xfrm>
            <a:off x="474685" y="1725821"/>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Birth Weight</a:t>
            </a:r>
            <a:endParaRPr lang="en-US" dirty="0"/>
          </a:p>
        </p:txBody>
      </p:sp>
      <p:sp>
        <p:nvSpPr>
          <p:cNvPr id="14" name="Rectangle: Rounded Corners 4">
            <a:extLst>
              <a:ext uri="{FF2B5EF4-FFF2-40B4-BE49-F238E27FC236}">
                <a16:creationId xmlns:a16="http://schemas.microsoft.com/office/drawing/2014/main" xmlns="" id="{BC84B39E-203D-4D02-8B41-A8DF55BE37F8}"/>
              </a:ext>
            </a:extLst>
          </p:cNvPr>
          <p:cNvSpPr/>
          <p:nvPr/>
        </p:nvSpPr>
        <p:spPr>
          <a:xfrm>
            <a:off x="461763" y="2210588"/>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tx1"/>
                </a:solidFill>
              </a:rPr>
              <a:t>Apgar_5</a:t>
            </a:r>
            <a:endParaRPr lang="en-US" dirty="0">
              <a:solidFill>
                <a:schemeClr val="tx1"/>
              </a:solidFill>
            </a:endParaRPr>
          </a:p>
        </p:txBody>
      </p:sp>
      <p:sp>
        <p:nvSpPr>
          <p:cNvPr id="15" name="Rectangle: Rounded Corners 4">
            <a:extLst>
              <a:ext uri="{FF2B5EF4-FFF2-40B4-BE49-F238E27FC236}">
                <a16:creationId xmlns:a16="http://schemas.microsoft.com/office/drawing/2014/main" xmlns="" id="{BC84B39E-203D-4D02-8B41-A8DF55BE37F8}"/>
              </a:ext>
            </a:extLst>
          </p:cNvPr>
          <p:cNvSpPr/>
          <p:nvPr/>
        </p:nvSpPr>
        <p:spPr>
          <a:xfrm>
            <a:off x="474685" y="2694434"/>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bg2"/>
                </a:solidFill>
              </a:rPr>
              <a:t>Race</a:t>
            </a:r>
            <a:endParaRPr lang="en-US" dirty="0">
              <a:solidFill>
                <a:schemeClr val="bg2"/>
              </a:solidFill>
            </a:endParaRPr>
          </a:p>
        </p:txBody>
      </p:sp>
      <p:sp>
        <p:nvSpPr>
          <p:cNvPr id="16" name="Rectangle: Rounded Corners 4">
            <a:extLst>
              <a:ext uri="{FF2B5EF4-FFF2-40B4-BE49-F238E27FC236}">
                <a16:creationId xmlns:a16="http://schemas.microsoft.com/office/drawing/2014/main" xmlns="" id="{BC84B39E-203D-4D02-8B41-A8DF55BE37F8}"/>
              </a:ext>
            </a:extLst>
          </p:cNvPr>
          <p:cNvSpPr/>
          <p:nvPr/>
        </p:nvSpPr>
        <p:spPr>
          <a:xfrm>
            <a:off x="481840" y="3178280"/>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tx1"/>
                </a:solidFill>
              </a:rPr>
              <a:t>Sex</a:t>
            </a:r>
            <a:endParaRPr lang="en-US" dirty="0">
              <a:solidFill>
                <a:schemeClr val="tx1"/>
              </a:solidFill>
            </a:endParaRPr>
          </a:p>
        </p:txBody>
      </p:sp>
      <p:sp>
        <p:nvSpPr>
          <p:cNvPr id="17" name="Rectangle: Rounded Corners 5">
            <a:extLst>
              <a:ext uri="{FF2B5EF4-FFF2-40B4-BE49-F238E27FC236}">
                <a16:creationId xmlns:a16="http://schemas.microsoft.com/office/drawing/2014/main" xmlns="" id="{878C79D7-7857-47AD-86D9-75EBF903E5C5}"/>
              </a:ext>
            </a:extLst>
          </p:cNvPr>
          <p:cNvSpPr/>
          <p:nvPr/>
        </p:nvSpPr>
        <p:spPr>
          <a:xfrm>
            <a:off x="481840" y="419205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tx1"/>
                </a:solidFill>
              </a:rPr>
              <a:t>IVH</a:t>
            </a:r>
            <a:endParaRPr lang="en-US" sz="1600" dirty="0">
              <a:solidFill>
                <a:schemeClr val="tx1"/>
              </a:solidFill>
            </a:endParaRPr>
          </a:p>
        </p:txBody>
      </p:sp>
      <p:sp>
        <p:nvSpPr>
          <p:cNvPr id="18" name="Rectangle: Rounded Corners 5">
            <a:extLst>
              <a:ext uri="{FF2B5EF4-FFF2-40B4-BE49-F238E27FC236}">
                <a16:creationId xmlns:a16="http://schemas.microsoft.com/office/drawing/2014/main" xmlns="" id="{878C79D7-7857-47AD-86D9-75EBF903E5C5}"/>
              </a:ext>
            </a:extLst>
          </p:cNvPr>
          <p:cNvSpPr/>
          <p:nvPr/>
        </p:nvSpPr>
        <p:spPr>
          <a:xfrm>
            <a:off x="474685" y="472197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Preterm Labor</a:t>
            </a:r>
            <a:endParaRPr lang="en-US" sz="1600" dirty="0">
              <a:solidFill>
                <a:schemeClr val="bg2"/>
              </a:solidFill>
            </a:endParaRPr>
          </a:p>
        </p:txBody>
      </p:sp>
      <p:sp>
        <p:nvSpPr>
          <p:cNvPr id="19" name="Rectangle: Rounded Corners 5">
            <a:extLst>
              <a:ext uri="{FF2B5EF4-FFF2-40B4-BE49-F238E27FC236}">
                <a16:creationId xmlns:a16="http://schemas.microsoft.com/office/drawing/2014/main" xmlns="" id="{878C79D7-7857-47AD-86D9-75EBF903E5C5}"/>
              </a:ext>
            </a:extLst>
          </p:cNvPr>
          <p:cNvSpPr/>
          <p:nvPr/>
        </p:nvSpPr>
        <p:spPr>
          <a:xfrm>
            <a:off x="474685" y="525190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Multiple Gest</a:t>
            </a:r>
            <a:endParaRPr lang="en-US" sz="1600" dirty="0">
              <a:solidFill>
                <a:schemeClr val="bg2"/>
              </a:solidFill>
            </a:endParaRPr>
          </a:p>
        </p:txBody>
      </p:sp>
      <p:sp>
        <p:nvSpPr>
          <p:cNvPr id="3" name="TextBox 2"/>
          <p:cNvSpPr txBox="1"/>
          <p:nvPr/>
        </p:nvSpPr>
        <p:spPr>
          <a:xfrm>
            <a:off x="1117613" y="5653658"/>
            <a:ext cx="343364" cy="369332"/>
          </a:xfrm>
          <a:prstGeom prst="rect">
            <a:avLst/>
          </a:prstGeom>
          <a:noFill/>
        </p:spPr>
        <p:txBody>
          <a:bodyPr wrap="none" rtlCol="0">
            <a:spAutoFit/>
          </a:bodyPr>
          <a:lstStyle/>
          <a:p>
            <a:r>
              <a:rPr lang="en-US" dirty="0" smtClean="0"/>
              <a:t>…</a:t>
            </a:r>
            <a:endParaRPr lang="en-US" dirty="0"/>
          </a:p>
        </p:txBody>
      </p:sp>
      <p:pic>
        <p:nvPicPr>
          <p:cNvPr id="20" name="Picture 19"/>
          <p:cNvPicPr>
            <a:picLocks noChangeAspect="1"/>
          </p:cNvPicPr>
          <p:nvPr/>
        </p:nvPicPr>
        <p:blipFill>
          <a:blip r:embed="rId3"/>
          <a:stretch>
            <a:fillRect/>
          </a:stretch>
        </p:blipFill>
        <p:spPr>
          <a:xfrm>
            <a:off x="10695032" y="1902081"/>
            <a:ext cx="990600" cy="1209675"/>
          </a:xfrm>
          <a:prstGeom prst="rect">
            <a:avLst/>
          </a:prstGeom>
        </p:spPr>
      </p:pic>
      <p:sp>
        <p:nvSpPr>
          <p:cNvPr id="21" name="Curved Left Arrow 20"/>
          <p:cNvSpPr/>
          <p:nvPr/>
        </p:nvSpPr>
        <p:spPr>
          <a:xfrm rot="16200000">
            <a:off x="9526966" y="1562146"/>
            <a:ext cx="507040" cy="1186910"/>
          </a:xfrm>
          <a:prstGeom prst="curvedLeftArrow">
            <a:avLst>
              <a:gd name="adj1" fmla="val 12841"/>
              <a:gd name="adj2" fmla="val 27694"/>
              <a:gd name="adj3" fmla="val 1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TextBox 21"/>
          <p:cNvSpPr txBox="1"/>
          <p:nvPr/>
        </p:nvSpPr>
        <p:spPr>
          <a:xfrm>
            <a:off x="8269833" y="1573715"/>
            <a:ext cx="3323026" cy="369332"/>
          </a:xfrm>
          <a:prstGeom prst="rect">
            <a:avLst/>
          </a:prstGeom>
          <a:noFill/>
        </p:spPr>
        <p:txBody>
          <a:bodyPr wrap="none" rtlCol="0">
            <a:spAutoFit/>
          </a:bodyPr>
          <a:lstStyle/>
          <a:p>
            <a:r>
              <a:rPr lang="en-US" dirty="0" smtClean="0"/>
              <a:t>Clinical Knowledge &amp; Experiences</a:t>
            </a:r>
            <a:endParaRPr lang="en-US" dirty="0"/>
          </a:p>
        </p:txBody>
      </p:sp>
      <p:sp>
        <p:nvSpPr>
          <p:cNvPr id="23" name="TextBox 22"/>
          <p:cNvSpPr txBox="1"/>
          <p:nvPr/>
        </p:nvSpPr>
        <p:spPr>
          <a:xfrm>
            <a:off x="11369881" y="1791103"/>
            <a:ext cx="445956" cy="769441"/>
          </a:xfrm>
          <a:prstGeom prst="rect">
            <a:avLst/>
          </a:prstGeom>
          <a:noFill/>
        </p:spPr>
        <p:txBody>
          <a:bodyPr wrap="none" rtlCol="0">
            <a:spAutoFit/>
          </a:bodyPr>
          <a:lstStyle/>
          <a:p>
            <a:r>
              <a:rPr lang="en-US" sz="4400" dirty="0" smtClean="0"/>
              <a:t>?</a:t>
            </a:r>
            <a:endParaRPr lang="en-US" sz="4400" dirty="0"/>
          </a:p>
        </p:txBody>
      </p:sp>
      <p:pic>
        <p:nvPicPr>
          <p:cNvPr id="6" name="Picture 5"/>
          <p:cNvPicPr>
            <a:picLocks noChangeAspect="1"/>
          </p:cNvPicPr>
          <p:nvPr/>
        </p:nvPicPr>
        <p:blipFill>
          <a:blip r:embed="rId4"/>
          <a:stretch>
            <a:fillRect/>
          </a:stretch>
        </p:blipFill>
        <p:spPr>
          <a:xfrm>
            <a:off x="2676834" y="3105777"/>
            <a:ext cx="4298604" cy="3612724"/>
          </a:xfrm>
          <a:prstGeom prst="rect">
            <a:avLst/>
          </a:prstGeom>
        </p:spPr>
      </p:pic>
      <p:pic>
        <p:nvPicPr>
          <p:cNvPr id="12" name="Picture 11"/>
          <p:cNvPicPr>
            <a:picLocks noChangeAspect="1"/>
          </p:cNvPicPr>
          <p:nvPr/>
        </p:nvPicPr>
        <p:blipFill>
          <a:blip r:embed="rId5"/>
          <a:stretch>
            <a:fillRect/>
          </a:stretch>
        </p:blipFill>
        <p:spPr>
          <a:xfrm>
            <a:off x="2564538" y="1146740"/>
            <a:ext cx="5410200" cy="1885950"/>
          </a:xfrm>
          <a:prstGeom prst="rect">
            <a:avLst/>
          </a:prstGeom>
        </p:spPr>
      </p:pic>
      <p:pic>
        <p:nvPicPr>
          <p:cNvPr id="24" name="Picture 23"/>
          <p:cNvPicPr>
            <a:picLocks noChangeAspect="1"/>
          </p:cNvPicPr>
          <p:nvPr/>
        </p:nvPicPr>
        <p:blipFill>
          <a:blip r:embed="rId6"/>
          <a:stretch>
            <a:fillRect/>
          </a:stretch>
        </p:blipFill>
        <p:spPr>
          <a:xfrm>
            <a:off x="7918126" y="3807410"/>
            <a:ext cx="3225965" cy="2992979"/>
          </a:xfrm>
          <a:prstGeom prst="rect">
            <a:avLst/>
          </a:prstGeom>
        </p:spPr>
      </p:pic>
    </p:spTree>
    <p:extLst>
      <p:ext uri="{BB962C8B-B14F-4D97-AF65-F5344CB8AC3E}">
        <p14:creationId xmlns:p14="http://schemas.microsoft.com/office/powerpoint/2010/main" val="26451104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3143"/>
          </a:xfrm>
        </p:spPr>
        <p:txBody>
          <a:bodyPr/>
          <a:lstStyle/>
          <a:p>
            <a:r>
              <a:rPr lang="en-US" dirty="0" smtClean="0"/>
              <a:t>Conventional SIP Prediction</a:t>
            </a:r>
            <a:endParaRPr lang="en-US" dirty="0"/>
          </a:p>
        </p:txBody>
      </p:sp>
      <p:sp>
        <p:nvSpPr>
          <p:cNvPr id="5" name="Oval 4">
            <a:extLst>
              <a:ext uri="{FF2B5EF4-FFF2-40B4-BE49-F238E27FC236}">
                <a16:creationId xmlns:a16="http://schemas.microsoft.com/office/drawing/2014/main" xmlns="" id="{7F4B5A15-FF0C-4A42-B191-0B1264768FFA}"/>
              </a:ext>
            </a:extLst>
          </p:cNvPr>
          <p:cNvSpPr/>
          <p:nvPr/>
        </p:nvSpPr>
        <p:spPr>
          <a:xfrm>
            <a:off x="8191090" y="2483935"/>
            <a:ext cx="3886200" cy="12436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Neonatologist                            </a:t>
            </a:r>
            <a:endParaRPr lang="en-US" dirty="0"/>
          </a:p>
        </p:txBody>
      </p:sp>
      <p:sp>
        <p:nvSpPr>
          <p:cNvPr id="7" name="Rectangle: Rounded Corners 5">
            <a:extLst>
              <a:ext uri="{FF2B5EF4-FFF2-40B4-BE49-F238E27FC236}">
                <a16:creationId xmlns:a16="http://schemas.microsoft.com/office/drawing/2014/main" xmlns="" id="{878C79D7-7857-47AD-86D9-75EBF903E5C5}"/>
              </a:ext>
            </a:extLst>
          </p:cNvPr>
          <p:cNvSpPr/>
          <p:nvPr/>
        </p:nvSpPr>
        <p:spPr>
          <a:xfrm>
            <a:off x="474685" y="366212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a:solidFill>
                  <a:schemeClr val="tx1"/>
                </a:solidFill>
              </a:rPr>
              <a:t>Gestational </a:t>
            </a:r>
            <a:r>
              <a:rPr lang="en-US" sz="1600" dirty="0" smtClean="0">
                <a:solidFill>
                  <a:schemeClr val="tx1"/>
                </a:solidFill>
              </a:rPr>
              <a:t>Age</a:t>
            </a:r>
            <a:endParaRPr lang="en-US" sz="1600" dirty="0">
              <a:solidFill>
                <a:schemeClr val="tx1"/>
              </a:solidFill>
            </a:endParaRPr>
          </a:p>
        </p:txBody>
      </p:sp>
      <p:sp>
        <p:nvSpPr>
          <p:cNvPr id="8" name="Rectangle: Rounded Corners 7">
            <a:extLst>
              <a:ext uri="{FF2B5EF4-FFF2-40B4-BE49-F238E27FC236}">
                <a16:creationId xmlns:a16="http://schemas.microsoft.com/office/drawing/2014/main" xmlns="" id="{D5E5FE08-5C6B-4B34-B8DB-997DC7A013FE}"/>
              </a:ext>
            </a:extLst>
          </p:cNvPr>
          <p:cNvSpPr/>
          <p:nvPr/>
        </p:nvSpPr>
        <p:spPr>
          <a:xfrm>
            <a:off x="177505" y="1566413"/>
            <a:ext cx="2249424" cy="4760246"/>
          </a:xfrm>
          <a:prstGeom prst="roundRect">
            <a:avLst>
              <a:gd name="adj" fmla="val 931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9" name="TextBox 8">
            <a:extLst>
              <a:ext uri="{FF2B5EF4-FFF2-40B4-BE49-F238E27FC236}">
                <a16:creationId xmlns:a16="http://schemas.microsoft.com/office/drawing/2014/main" xmlns="" id="{8695EE34-41F2-4CE8-B7A4-68C19C84AEF0}"/>
              </a:ext>
            </a:extLst>
          </p:cNvPr>
          <p:cNvSpPr txBox="1"/>
          <p:nvPr/>
        </p:nvSpPr>
        <p:spPr>
          <a:xfrm>
            <a:off x="440832" y="6022990"/>
            <a:ext cx="1737079" cy="369332"/>
          </a:xfrm>
          <a:prstGeom prst="rect">
            <a:avLst/>
          </a:prstGeom>
          <a:noFill/>
        </p:spPr>
        <p:txBody>
          <a:bodyPr wrap="none" rtlCol="0">
            <a:spAutoFit/>
          </a:bodyPr>
          <a:lstStyle/>
          <a:p>
            <a:r>
              <a:rPr lang="en-US" dirty="0" smtClean="0"/>
              <a:t>Clinical Evidence</a:t>
            </a:r>
            <a:endParaRPr lang="en-US" dirty="0"/>
          </a:p>
        </p:txBody>
      </p:sp>
      <p:sp>
        <p:nvSpPr>
          <p:cNvPr id="10" name="Arrow: Right 9">
            <a:extLst>
              <a:ext uri="{FF2B5EF4-FFF2-40B4-BE49-F238E27FC236}">
                <a16:creationId xmlns:a16="http://schemas.microsoft.com/office/drawing/2014/main" xmlns="" id="{AD4B9368-5F3C-414D-BF2F-02C6D7AFF0FC}"/>
              </a:ext>
            </a:extLst>
          </p:cNvPr>
          <p:cNvSpPr/>
          <p:nvPr/>
        </p:nvSpPr>
        <p:spPr>
          <a:xfrm>
            <a:off x="7224456" y="3032625"/>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4">
            <a:extLst>
              <a:ext uri="{FF2B5EF4-FFF2-40B4-BE49-F238E27FC236}">
                <a16:creationId xmlns:a16="http://schemas.microsoft.com/office/drawing/2014/main" xmlns="" id="{BC84B39E-203D-4D02-8B41-A8DF55BE37F8}"/>
              </a:ext>
            </a:extLst>
          </p:cNvPr>
          <p:cNvSpPr/>
          <p:nvPr/>
        </p:nvSpPr>
        <p:spPr>
          <a:xfrm>
            <a:off x="474685" y="1725821"/>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Birth Weight</a:t>
            </a:r>
            <a:endParaRPr lang="en-US" dirty="0"/>
          </a:p>
        </p:txBody>
      </p:sp>
      <p:sp>
        <p:nvSpPr>
          <p:cNvPr id="14" name="Rectangle: Rounded Corners 4">
            <a:extLst>
              <a:ext uri="{FF2B5EF4-FFF2-40B4-BE49-F238E27FC236}">
                <a16:creationId xmlns:a16="http://schemas.microsoft.com/office/drawing/2014/main" xmlns="" id="{BC84B39E-203D-4D02-8B41-A8DF55BE37F8}"/>
              </a:ext>
            </a:extLst>
          </p:cNvPr>
          <p:cNvSpPr/>
          <p:nvPr/>
        </p:nvSpPr>
        <p:spPr>
          <a:xfrm>
            <a:off x="461763" y="2210588"/>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tx1"/>
                </a:solidFill>
              </a:rPr>
              <a:t>Apgar_5</a:t>
            </a:r>
            <a:endParaRPr lang="en-US" dirty="0">
              <a:solidFill>
                <a:schemeClr val="tx1"/>
              </a:solidFill>
            </a:endParaRPr>
          </a:p>
        </p:txBody>
      </p:sp>
      <p:sp>
        <p:nvSpPr>
          <p:cNvPr id="15" name="Rectangle: Rounded Corners 4">
            <a:extLst>
              <a:ext uri="{FF2B5EF4-FFF2-40B4-BE49-F238E27FC236}">
                <a16:creationId xmlns:a16="http://schemas.microsoft.com/office/drawing/2014/main" xmlns="" id="{BC84B39E-203D-4D02-8B41-A8DF55BE37F8}"/>
              </a:ext>
            </a:extLst>
          </p:cNvPr>
          <p:cNvSpPr/>
          <p:nvPr/>
        </p:nvSpPr>
        <p:spPr>
          <a:xfrm>
            <a:off x="474685" y="2694434"/>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tx1"/>
                </a:solidFill>
              </a:rPr>
              <a:t>Race</a:t>
            </a:r>
            <a:endParaRPr lang="en-US" dirty="0">
              <a:solidFill>
                <a:schemeClr val="tx1"/>
              </a:solidFill>
            </a:endParaRPr>
          </a:p>
        </p:txBody>
      </p:sp>
      <p:sp>
        <p:nvSpPr>
          <p:cNvPr id="16" name="Rectangle: Rounded Corners 4">
            <a:extLst>
              <a:ext uri="{FF2B5EF4-FFF2-40B4-BE49-F238E27FC236}">
                <a16:creationId xmlns:a16="http://schemas.microsoft.com/office/drawing/2014/main" xmlns="" id="{BC84B39E-203D-4D02-8B41-A8DF55BE37F8}"/>
              </a:ext>
            </a:extLst>
          </p:cNvPr>
          <p:cNvSpPr/>
          <p:nvPr/>
        </p:nvSpPr>
        <p:spPr>
          <a:xfrm>
            <a:off x="481840" y="3178280"/>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solidFill>
                  <a:schemeClr val="tx1"/>
                </a:solidFill>
              </a:rPr>
              <a:t>Sex</a:t>
            </a:r>
            <a:endParaRPr lang="en-US" dirty="0">
              <a:solidFill>
                <a:schemeClr val="tx1"/>
              </a:solidFill>
            </a:endParaRPr>
          </a:p>
        </p:txBody>
      </p:sp>
      <p:sp>
        <p:nvSpPr>
          <p:cNvPr id="17" name="Rectangle: Rounded Corners 5">
            <a:extLst>
              <a:ext uri="{FF2B5EF4-FFF2-40B4-BE49-F238E27FC236}">
                <a16:creationId xmlns:a16="http://schemas.microsoft.com/office/drawing/2014/main" xmlns="" id="{878C79D7-7857-47AD-86D9-75EBF903E5C5}"/>
              </a:ext>
            </a:extLst>
          </p:cNvPr>
          <p:cNvSpPr/>
          <p:nvPr/>
        </p:nvSpPr>
        <p:spPr>
          <a:xfrm>
            <a:off x="481840" y="419205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tx1"/>
                </a:solidFill>
              </a:rPr>
              <a:t>IVH</a:t>
            </a:r>
            <a:endParaRPr lang="en-US" sz="1600" dirty="0">
              <a:solidFill>
                <a:schemeClr val="tx1"/>
              </a:solidFill>
            </a:endParaRPr>
          </a:p>
        </p:txBody>
      </p:sp>
      <p:sp>
        <p:nvSpPr>
          <p:cNvPr id="18" name="Rectangle: Rounded Corners 5">
            <a:extLst>
              <a:ext uri="{FF2B5EF4-FFF2-40B4-BE49-F238E27FC236}">
                <a16:creationId xmlns:a16="http://schemas.microsoft.com/office/drawing/2014/main" xmlns="" id="{878C79D7-7857-47AD-86D9-75EBF903E5C5}"/>
              </a:ext>
            </a:extLst>
          </p:cNvPr>
          <p:cNvSpPr/>
          <p:nvPr/>
        </p:nvSpPr>
        <p:spPr>
          <a:xfrm>
            <a:off x="474685" y="472197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bg2"/>
                </a:solidFill>
              </a:rPr>
              <a:t>Preterm Labor</a:t>
            </a:r>
            <a:endParaRPr lang="en-US" sz="1600" dirty="0">
              <a:solidFill>
                <a:schemeClr val="bg2"/>
              </a:solidFill>
            </a:endParaRPr>
          </a:p>
        </p:txBody>
      </p:sp>
      <p:sp>
        <p:nvSpPr>
          <p:cNvPr id="19" name="Rectangle: Rounded Corners 5">
            <a:extLst>
              <a:ext uri="{FF2B5EF4-FFF2-40B4-BE49-F238E27FC236}">
                <a16:creationId xmlns:a16="http://schemas.microsoft.com/office/drawing/2014/main" xmlns="" id="{878C79D7-7857-47AD-86D9-75EBF903E5C5}"/>
              </a:ext>
            </a:extLst>
          </p:cNvPr>
          <p:cNvSpPr/>
          <p:nvPr/>
        </p:nvSpPr>
        <p:spPr>
          <a:xfrm>
            <a:off x="474685" y="525190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solidFill>
                  <a:schemeClr val="tx1"/>
                </a:solidFill>
              </a:rPr>
              <a:t>Multiple Gest</a:t>
            </a:r>
            <a:endParaRPr lang="en-US" sz="1600" dirty="0">
              <a:solidFill>
                <a:schemeClr val="tx1"/>
              </a:solidFill>
            </a:endParaRPr>
          </a:p>
        </p:txBody>
      </p:sp>
      <p:sp>
        <p:nvSpPr>
          <p:cNvPr id="3" name="TextBox 2"/>
          <p:cNvSpPr txBox="1"/>
          <p:nvPr/>
        </p:nvSpPr>
        <p:spPr>
          <a:xfrm>
            <a:off x="1117613" y="5653658"/>
            <a:ext cx="343364" cy="369332"/>
          </a:xfrm>
          <a:prstGeom prst="rect">
            <a:avLst/>
          </a:prstGeom>
          <a:noFill/>
        </p:spPr>
        <p:txBody>
          <a:bodyPr wrap="none" rtlCol="0">
            <a:spAutoFit/>
          </a:bodyPr>
          <a:lstStyle/>
          <a:p>
            <a:r>
              <a:rPr lang="en-US" dirty="0" smtClean="0"/>
              <a:t>…</a:t>
            </a:r>
            <a:endParaRPr lang="en-US" dirty="0"/>
          </a:p>
        </p:txBody>
      </p:sp>
      <p:pic>
        <p:nvPicPr>
          <p:cNvPr id="20" name="Picture 19"/>
          <p:cNvPicPr>
            <a:picLocks noChangeAspect="1"/>
          </p:cNvPicPr>
          <p:nvPr/>
        </p:nvPicPr>
        <p:blipFill>
          <a:blip r:embed="rId3"/>
          <a:stretch>
            <a:fillRect/>
          </a:stretch>
        </p:blipFill>
        <p:spPr>
          <a:xfrm>
            <a:off x="10695032" y="1902081"/>
            <a:ext cx="990600" cy="1209675"/>
          </a:xfrm>
          <a:prstGeom prst="rect">
            <a:avLst/>
          </a:prstGeom>
        </p:spPr>
      </p:pic>
      <p:sp>
        <p:nvSpPr>
          <p:cNvPr id="21" name="Curved Left Arrow 20"/>
          <p:cNvSpPr/>
          <p:nvPr/>
        </p:nvSpPr>
        <p:spPr>
          <a:xfrm rot="16200000">
            <a:off x="9526966" y="1562146"/>
            <a:ext cx="507040" cy="1186910"/>
          </a:xfrm>
          <a:prstGeom prst="curvedLeftArrow">
            <a:avLst>
              <a:gd name="adj1" fmla="val 12841"/>
              <a:gd name="adj2" fmla="val 27694"/>
              <a:gd name="adj3" fmla="val 1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TextBox 21"/>
          <p:cNvSpPr txBox="1"/>
          <p:nvPr/>
        </p:nvSpPr>
        <p:spPr>
          <a:xfrm>
            <a:off x="8269833" y="1573715"/>
            <a:ext cx="3323026" cy="369332"/>
          </a:xfrm>
          <a:prstGeom prst="rect">
            <a:avLst/>
          </a:prstGeom>
          <a:noFill/>
        </p:spPr>
        <p:txBody>
          <a:bodyPr wrap="none" rtlCol="0">
            <a:spAutoFit/>
          </a:bodyPr>
          <a:lstStyle/>
          <a:p>
            <a:r>
              <a:rPr lang="en-US" dirty="0" smtClean="0"/>
              <a:t>Clinical Knowledge &amp; Experiences</a:t>
            </a:r>
            <a:endParaRPr lang="en-US" dirty="0"/>
          </a:p>
        </p:txBody>
      </p:sp>
      <p:sp>
        <p:nvSpPr>
          <p:cNvPr id="23" name="TextBox 22"/>
          <p:cNvSpPr txBox="1"/>
          <p:nvPr/>
        </p:nvSpPr>
        <p:spPr>
          <a:xfrm>
            <a:off x="11369881" y="1791103"/>
            <a:ext cx="445956" cy="769441"/>
          </a:xfrm>
          <a:prstGeom prst="rect">
            <a:avLst/>
          </a:prstGeom>
          <a:noFill/>
        </p:spPr>
        <p:txBody>
          <a:bodyPr wrap="none" rtlCol="0">
            <a:spAutoFit/>
          </a:bodyPr>
          <a:lstStyle/>
          <a:p>
            <a:r>
              <a:rPr lang="en-US" sz="4400" dirty="0" smtClean="0"/>
              <a:t>?</a:t>
            </a:r>
            <a:endParaRPr lang="en-US" sz="4400" dirty="0"/>
          </a:p>
        </p:txBody>
      </p:sp>
      <p:pic>
        <p:nvPicPr>
          <p:cNvPr id="4" name="Picture 3"/>
          <p:cNvPicPr>
            <a:picLocks noChangeAspect="1"/>
          </p:cNvPicPr>
          <p:nvPr/>
        </p:nvPicPr>
        <p:blipFill>
          <a:blip r:embed="rId4"/>
          <a:stretch>
            <a:fillRect/>
          </a:stretch>
        </p:blipFill>
        <p:spPr>
          <a:xfrm>
            <a:off x="2600848" y="1407979"/>
            <a:ext cx="4904264" cy="2122822"/>
          </a:xfrm>
          <a:prstGeom prst="rect">
            <a:avLst/>
          </a:prstGeom>
        </p:spPr>
      </p:pic>
      <p:pic>
        <p:nvPicPr>
          <p:cNvPr id="11" name="Picture 10"/>
          <p:cNvPicPr>
            <a:picLocks noChangeAspect="1"/>
          </p:cNvPicPr>
          <p:nvPr/>
        </p:nvPicPr>
        <p:blipFill>
          <a:blip r:embed="rId5"/>
          <a:stretch>
            <a:fillRect/>
          </a:stretch>
        </p:blipFill>
        <p:spPr>
          <a:xfrm>
            <a:off x="2772677" y="3859167"/>
            <a:ext cx="8639175" cy="2238375"/>
          </a:xfrm>
          <a:prstGeom prst="rect">
            <a:avLst/>
          </a:prstGeom>
        </p:spPr>
      </p:pic>
    </p:spTree>
    <p:extLst>
      <p:ext uri="{BB962C8B-B14F-4D97-AF65-F5344CB8AC3E}">
        <p14:creationId xmlns:p14="http://schemas.microsoft.com/office/powerpoint/2010/main" val="7547800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03143"/>
          </a:xfrm>
        </p:spPr>
        <p:txBody>
          <a:bodyPr/>
          <a:lstStyle/>
          <a:p>
            <a:r>
              <a:rPr lang="en-US" dirty="0" smtClean="0"/>
              <a:t>Conventional SIP Prediction</a:t>
            </a:r>
            <a:endParaRPr lang="en-US" dirty="0"/>
          </a:p>
        </p:txBody>
      </p:sp>
      <p:sp>
        <p:nvSpPr>
          <p:cNvPr id="32" name="Oval 31">
            <a:extLst>
              <a:ext uri="{FF2B5EF4-FFF2-40B4-BE49-F238E27FC236}">
                <a16:creationId xmlns:a16="http://schemas.microsoft.com/office/drawing/2014/main" xmlns="" id="{7F4B5A15-FF0C-4A42-B191-0B1264768FFA}"/>
              </a:ext>
            </a:extLst>
          </p:cNvPr>
          <p:cNvSpPr/>
          <p:nvPr/>
        </p:nvSpPr>
        <p:spPr>
          <a:xfrm>
            <a:off x="4506190" y="2915260"/>
            <a:ext cx="3886200" cy="12436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Neonatologist                            </a:t>
            </a:r>
            <a:endParaRPr lang="en-US" dirty="0"/>
          </a:p>
        </p:txBody>
      </p:sp>
      <p:sp>
        <p:nvSpPr>
          <p:cNvPr id="33" name="Rectangle: Rounded Corners 5">
            <a:extLst>
              <a:ext uri="{FF2B5EF4-FFF2-40B4-BE49-F238E27FC236}">
                <a16:creationId xmlns:a16="http://schemas.microsoft.com/office/drawing/2014/main" xmlns="" id="{878C79D7-7857-47AD-86D9-75EBF903E5C5}"/>
              </a:ext>
            </a:extLst>
          </p:cNvPr>
          <p:cNvSpPr/>
          <p:nvPr/>
        </p:nvSpPr>
        <p:spPr>
          <a:xfrm>
            <a:off x="1675687" y="409345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a:t>Gestational </a:t>
            </a:r>
            <a:r>
              <a:rPr lang="en-US" sz="1600" dirty="0" smtClean="0"/>
              <a:t>Age</a:t>
            </a:r>
            <a:endParaRPr lang="en-US" sz="1600" dirty="0"/>
          </a:p>
        </p:txBody>
      </p:sp>
      <p:sp>
        <p:nvSpPr>
          <p:cNvPr id="34" name="Rectangle: Rounded Corners 7">
            <a:extLst>
              <a:ext uri="{FF2B5EF4-FFF2-40B4-BE49-F238E27FC236}">
                <a16:creationId xmlns:a16="http://schemas.microsoft.com/office/drawing/2014/main" xmlns="" id="{D5E5FE08-5C6B-4B34-B8DB-997DC7A013FE}"/>
              </a:ext>
            </a:extLst>
          </p:cNvPr>
          <p:cNvSpPr/>
          <p:nvPr/>
        </p:nvSpPr>
        <p:spPr>
          <a:xfrm>
            <a:off x="1378507" y="1997738"/>
            <a:ext cx="2249424" cy="4760246"/>
          </a:xfrm>
          <a:prstGeom prst="roundRect">
            <a:avLst>
              <a:gd name="adj" fmla="val 931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5" name="TextBox 34">
            <a:extLst>
              <a:ext uri="{FF2B5EF4-FFF2-40B4-BE49-F238E27FC236}">
                <a16:creationId xmlns:a16="http://schemas.microsoft.com/office/drawing/2014/main" xmlns="" id="{8695EE34-41F2-4CE8-B7A4-68C19C84AEF0}"/>
              </a:ext>
            </a:extLst>
          </p:cNvPr>
          <p:cNvSpPr txBox="1"/>
          <p:nvPr/>
        </p:nvSpPr>
        <p:spPr>
          <a:xfrm>
            <a:off x="1641834" y="6454315"/>
            <a:ext cx="1737079" cy="369332"/>
          </a:xfrm>
          <a:prstGeom prst="rect">
            <a:avLst/>
          </a:prstGeom>
          <a:noFill/>
        </p:spPr>
        <p:txBody>
          <a:bodyPr wrap="none" rtlCol="0">
            <a:spAutoFit/>
          </a:bodyPr>
          <a:lstStyle/>
          <a:p>
            <a:r>
              <a:rPr lang="en-US" dirty="0" smtClean="0"/>
              <a:t>Clinical Evidence</a:t>
            </a:r>
            <a:endParaRPr lang="en-US" dirty="0"/>
          </a:p>
        </p:txBody>
      </p:sp>
      <p:sp>
        <p:nvSpPr>
          <p:cNvPr id="36" name="Arrow: Right 9">
            <a:extLst>
              <a:ext uri="{FF2B5EF4-FFF2-40B4-BE49-F238E27FC236}">
                <a16:creationId xmlns:a16="http://schemas.microsoft.com/office/drawing/2014/main" xmlns="" id="{AD4B9368-5F3C-414D-BF2F-02C6D7AFF0FC}"/>
              </a:ext>
            </a:extLst>
          </p:cNvPr>
          <p:cNvSpPr/>
          <p:nvPr/>
        </p:nvSpPr>
        <p:spPr>
          <a:xfrm>
            <a:off x="3635086" y="3463950"/>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10">
            <a:extLst>
              <a:ext uri="{FF2B5EF4-FFF2-40B4-BE49-F238E27FC236}">
                <a16:creationId xmlns:a16="http://schemas.microsoft.com/office/drawing/2014/main" xmlns="" id="{FB6657AD-7C97-4B16-963C-8797ED82EF4D}"/>
              </a:ext>
            </a:extLst>
          </p:cNvPr>
          <p:cNvSpPr/>
          <p:nvPr/>
        </p:nvSpPr>
        <p:spPr>
          <a:xfrm>
            <a:off x="9276934" y="3217062"/>
            <a:ext cx="1752446" cy="69494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SIP Probabilistic Estimation</a:t>
            </a:r>
            <a:endParaRPr lang="en-US" dirty="0"/>
          </a:p>
        </p:txBody>
      </p:sp>
      <p:sp>
        <p:nvSpPr>
          <p:cNvPr id="38" name="Arrow: Right 12">
            <a:extLst>
              <a:ext uri="{FF2B5EF4-FFF2-40B4-BE49-F238E27FC236}">
                <a16:creationId xmlns:a16="http://schemas.microsoft.com/office/drawing/2014/main" xmlns="" id="{B82EDFFC-082A-497F-8CDD-0688DA7E19BF}"/>
              </a:ext>
            </a:extLst>
          </p:cNvPr>
          <p:cNvSpPr/>
          <p:nvPr/>
        </p:nvSpPr>
        <p:spPr>
          <a:xfrm>
            <a:off x="8399110" y="3491382"/>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4">
            <a:extLst>
              <a:ext uri="{FF2B5EF4-FFF2-40B4-BE49-F238E27FC236}">
                <a16:creationId xmlns:a16="http://schemas.microsoft.com/office/drawing/2014/main" xmlns="" id="{BC84B39E-203D-4D02-8B41-A8DF55BE37F8}"/>
              </a:ext>
            </a:extLst>
          </p:cNvPr>
          <p:cNvSpPr/>
          <p:nvPr/>
        </p:nvSpPr>
        <p:spPr>
          <a:xfrm>
            <a:off x="1675687" y="2157146"/>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Birth Weight</a:t>
            </a:r>
            <a:endParaRPr lang="en-US" dirty="0"/>
          </a:p>
        </p:txBody>
      </p:sp>
      <p:sp>
        <p:nvSpPr>
          <p:cNvPr id="40" name="Rectangle: Rounded Corners 4">
            <a:extLst>
              <a:ext uri="{FF2B5EF4-FFF2-40B4-BE49-F238E27FC236}">
                <a16:creationId xmlns:a16="http://schemas.microsoft.com/office/drawing/2014/main" xmlns="" id="{BC84B39E-203D-4D02-8B41-A8DF55BE37F8}"/>
              </a:ext>
            </a:extLst>
          </p:cNvPr>
          <p:cNvSpPr/>
          <p:nvPr/>
        </p:nvSpPr>
        <p:spPr>
          <a:xfrm>
            <a:off x="1662765" y="2641913"/>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Apgar_5</a:t>
            </a:r>
            <a:endParaRPr lang="en-US" dirty="0"/>
          </a:p>
        </p:txBody>
      </p:sp>
      <p:sp>
        <p:nvSpPr>
          <p:cNvPr id="41" name="Rectangle: Rounded Corners 4">
            <a:extLst>
              <a:ext uri="{FF2B5EF4-FFF2-40B4-BE49-F238E27FC236}">
                <a16:creationId xmlns:a16="http://schemas.microsoft.com/office/drawing/2014/main" xmlns="" id="{BC84B39E-203D-4D02-8B41-A8DF55BE37F8}"/>
              </a:ext>
            </a:extLst>
          </p:cNvPr>
          <p:cNvSpPr/>
          <p:nvPr/>
        </p:nvSpPr>
        <p:spPr>
          <a:xfrm>
            <a:off x="1675687" y="3125759"/>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Race</a:t>
            </a:r>
            <a:endParaRPr lang="en-US" dirty="0"/>
          </a:p>
        </p:txBody>
      </p:sp>
      <p:sp>
        <p:nvSpPr>
          <p:cNvPr id="42" name="Rectangle: Rounded Corners 4">
            <a:extLst>
              <a:ext uri="{FF2B5EF4-FFF2-40B4-BE49-F238E27FC236}">
                <a16:creationId xmlns:a16="http://schemas.microsoft.com/office/drawing/2014/main" xmlns="" id="{BC84B39E-203D-4D02-8B41-A8DF55BE37F8}"/>
              </a:ext>
            </a:extLst>
          </p:cNvPr>
          <p:cNvSpPr/>
          <p:nvPr/>
        </p:nvSpPr>
        <p:spPr>
          <a:xfrm>
            <a:off x="1682842" y="3609605"/>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Sex</a:t>
            </a:r>
            <a:endParaRPr lang="en-US" dirty="0"/>
          </a:p>
        </p:txBody>
      </p:sp>
      <p:sp>
        <p:nvSpPr>
          <p:cNvPr id="43" name="Rectangle: Rounded Corners 5">
            <a:extLst>
              <a:ext uri="{FF2B5EF4-FFF2-40B4-BE49-F238E27FC236}">
                <a16:creationId xmlns:a16="http://schemas.microsoft.com/office/drawing/2014/main" xmlns="" id="{878C79D7-7857-47AD-86D9-75EBF903E5C5}"/>
              </a:ext>
            </a:extLst>
          </p:cNvPr>
          <p:cNvSpPr/>
          <p:nvPr/>
        </p:nvSpPr>
        <p:spPr>
          <a:xfrm>
            <a:off x="1682842" y="462337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IVH</a:t>
            </a:r>
            <a:endParaRPr lang="en-US" sz="1600" dirty="0"/>
          </a:p>
        </p:txBody>
      </p:sp>
      <p:sp>
        <p:nvSpPr>
          <p:cNvPr id="44" name="Rectangle: Rounded Corners 5">
            <a:extLst>
              <a:ext uri="{FF2B5EF4-FFF2-40B4-BE49-F238E27FC236}">
                <a16:creationId xmlns:a16="http://schemas.microsoft.com/office/drawing/2014/main" xmlns="" id="{878C79D7-7857-47AD-86D9-75EBF903E5C5}"/>
              </a:ext>
            </a:extLst>
          </p:cNvPr>
          <p:cNvSpPr/>
          <p:nvPr/>
        </p:nvSpPr>
        <p:spPr>
          <a:xfrm>
            <a:off x="1675687" y="515330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Preterm Labor</a:t>
            </a:r>
            <a:endParaRPr lang="en-US" sz="1600" dirty="0"/>
          </a:p>
        </p:txBody>
      </p:sp>
      <p:sp>
        <p:nvSpPr>
          <p:cNvPr id="45" name="Rectangle: Rounded Corners 5">
            <a:extLst>
              <a:ext uri="{FF2B5EF4-FFF2-40B4-BE49-F238E27FC236}">
                <a16:creationId xmlns:a16="http://schemas.microsoft.com/office/drawing/2014/main" xmlns="" id="{878C79D7-7857-47AD-86D9-75EBF903E5C5}"/>
              </a:ext>
            </a:extLst>
          </p:cNvPr>
          <p:cNvSpPr/>
          <p:nvPr/>
        </p:nvSpPr>
        <p:spPr>
          <a:xfrm>
            <a:off x="1675687" y="568322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Multiple Gest</a:t>
            </a:r>
            <a:endParaRPr lang="en-US" sz="1600" dirty="0"/>
          </a:p>
        </p:txBody>
      </p:sp>
      <p:sp>
        <p:nvSpPr>
          <p:cNvPr id="46" name="TextBox 45"/>
          <p:cNvSpPr txBox="1"/>
          <p:nvPr/>
        </p:nvSpPr>
        <p:spPr>
          <a:xfrm>
            <a:off x="2318615" y="6084983"/>
            <a:ext cx="343364" cy="369332"/>
          </a:xfrm>
          <a:prstGeom prst="rect">
            <a:avLst/>
          </a:prstGeom>
          <a:noFill/>
        </p:spPr>
        <p:txBody>
          <a:bodyPr wrap="none" rtlCol="0">
            <a:spAutoFit/>
          </a:bodyPr>
          <a:lstStyle/>
          <a:p>
            <a:r>
              <a:rPr lang="en-US" dirty="0" smtClean="0"/>
              <a:t>…</a:t>
            </a:r>
            <a:endParaRPr lang="en-US" dirty="0"/>
          </a:p>
        </p:txBody>
      </p:sp>
      <p:pic>
        <p:nvPicPr>
          <p:cNvPr id="47" name="Picture 46"/>
          <p:cNvPicPr>
            <a:picLocks noChangeAspect="1"/>
          </p:cNvPicPr>
          <p:nvPr/>
        </p:nvPicPr>
        <p:blipFill>
          <a:blip r:embed="rId3"/>
          <a:stretch>
            <a:fillRect/>
          </a:stretch>
        </p:blipFill>
        <p:spPr>
          <a:xfrm>
            <a:off x="7118049" y="2963207"/>
            <a:ext cx="990600" cy="1209675"/>
          </a:xfrm>
          <a:prstGeom prst="rect">
            <a:avLst/>
          </a:prstGeom>
        </p:spPr>
      </p:pic>
      <p:sp>
        <p:nvSpPr>
          <p:cNvPr id="48" name="Curved Left Arrow 47"/>
          <p:cNvSpPr/>
          <p:nvPr/>
        </p:nvSpPr>
        <p:spPr>
          <a:xfrm rot="16200000">
            <a:off x="6062370" y="2041866"/>
            <a:ext cx="507040" cy="1186910"/>
          </a:xfrm>
          <a:prstGeom prst="curvedLeftArrow">
            <a:avLst>
              <a:gd name="adj1" fmla="val 12841"/>
              <a:gd name="adj2" fmla="val 27694"/>
              <a:gd name="adj3" fmla="val 1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TextBox 48"/>
          <p:cNvSpPr txBox="1"/>
          <p:nvPr/>
        </p:nvSpPr>
        <p:spPr>
          <a:xfrm>
            <a:off x="4654377" y="2012469"/>
            <a:ext cx="3323026" cy="369332"/>
          </a:xfrm>
          <a:prstGeom prst="rect">
            <a:avLst/>
          </a:prstGeom>
          <a:noFill/>
        </p:spPr>
        <p:txBody>
          <a:bodyPr wrap="none" rtlCol="0">
            <a:spAutoFit/>
          </a:bodyPr>
          <a:lstStyle/>
          <a:p>
            <a:r>
              <a:rPr lang="en-US" dirty="0" smtClean="0"/>
              <a:t>Clinical Knowledge &amp; Experiences</a:t>
            </a:r>
            <a:endParaRPr lang="en-US" dirty="0"/>
          </a:p>
        </p:txBody>
      </p:sp>
      <p:sp>
        <p:nvSpPr>
          <p:cNvPr id="50" name="TextBox 49"/>
          <p:cNvSpPr txBox="1"/>
          <p:nvPr/>
        </p:nvSpPr>
        <p:spPr>
          <a:xfrm>
            <a:off x="7754425" y="2703241"/>
            <a:ext cx="445956" cy="769441"/>
          </a:xfrm>
          <a:prstGeom prst="rect">
            <a:avLst/>
          </a:prstGeom>
          <a:noFill/>
        </p:spPr>
        <p:txBody>
          <a:bodyPr wrap="none" rtlCol="0">
            <a:spAutoFit/>
          </a:bodyPr>
          <a:lstStyle/>
          <a:p>
            <a:r>
              <a:rPr lang="en-US" sz="4400" dirty="0" smtClean="0"/>
              <a:t>?</a:t>
            </a:r>
            <a:endParaRPr lang="en-US" sz="4400" dirty="0"/>
          </a:p>
        </p:txBody>
      </p:sp>
    </p:spTree>
    <p:extLst>
      <p:ext uri="{BB962C8B-B14F-4D97-AF65-F5344CB8AC3E}">
        <p14:creationId xmlns:p14="http://schemas.microsoft.com/office/powerpoint/2010/main" val="160545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824"/>
            <a:ext cx="10515600" cy="1103143"/>
          </a:xfrm>
        </p:spPr>
        <p:txBody>
          <a:bodyPr/>
          <a:lstStyle/>
          <a:p>
            <a:r>
              <a:rPr lang="en-US" b="1" dirty="0" smtClean="0">
                <a:solidFill>
                  <a:schemeClr val="accent2">
                    <a:lumMod val="75000"/>
                  </a:schemeClr>
                </a:solidFill>
              </a:rPr>
              <a:t>Machine Learning Aided </a:t>
            </a:r>
            <a:r>
              <a:rPr lang="en-US" dirty="0" smtClean="0"/>
              <a:t>SIP Prediction</a:t>
            </a:r>
            <a:endParaRPr lang="en-US" dirty="0"/>
          </a:p>
        </p:txBody>
      </p:sp>
      <p:sp>
        <p:nvSpPr>
          <p:cNvPr id="24" name="Oval 23">
            <a:extLst>
              <a:ext uri="{FF2B5EF4-FFF2-40B4-BE49-F238E27FC236}">
                <a16:creationId xmlns:a16="http://schemas.microsoft.com/office/drawing/2014/main" xmlns="" id="{7F4B5A15-FF0C-4A42-B191-0B1264768FFA}"/>
              </a:ext>
            </a:extLst>
          </p:cNvPr>
          <p:cNvSpPr/>
          <p:nvPr/>
        </p:nvSpPr>
        <p:spPr>
          <a:xfrm>
            <a:off x="4513345" y="4493555"/>
            <a:ext cx="2396000" cy="12436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Machine Learning</a:t>
            </a:r>
            <a:endParaRPr lang="en-US" dirty="0"/>
          </a:p>
        </p:txBody>
      </p:sp>
      <p:sp>
        <p:nvSpPr>
          <p:cNvPr id="25" name="Arrow: Right 9">
            <a:extLst>
              <a:ext uri="{FF2B5EF4-FFF2-40B4-BE49-F238E27FC236}">
                <a16:creationId xmlns:a16="http://schemas.microsoft.com/office/drawing/2014/main" xmlns="" id="{AD4B9368-5F3C-414D-BF2F-02C6D7AFF0FC}"/>
              </a:ext>
            </a:extLst>
          </p:cNvPr>
          <p:cNvSpPr/>
          <p:nvPr/>
        </p:nvSpPr>
        <p:spPr>
          <a:xfrm>
            <a:off x="3642241" y="5042245"/>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5929931" y="4537924"/>
            <a:ext cx="1119969" cy="1145302"/>
          </a:xfrm>
          <a:prstGeom prst="rect">
            <a:avLst/>
          </a:prstGeom>
        </p:spPr>
      </p:pic>
      <p:sp>
        <p:nvSpPr>
          <p:cNvPr id="29" name="Curved Left Arrow 28"/>
          <p:cNvSpPr/>
          <p:nvPr/>
        </p:nvSpPr>
        <p:spPr>
          <a:xfrm rot="5400000">
            <a:off x="5468915" y="5397304"/>
            <a:ext cx="507040" cy="1186910"/>
          </a:xfrm>
          <a:prstGeom prst="curvedLeftArrow">
            <a:avLst>
              <a:gd name="adj1" fmla="val 12841"/>
              <a:gd name="adj2" fmla="val 27694"/>
              <a:gd name="adj3" fmla="val 1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p:cNvSpPr txBox="1"/>
          <p:nvPr/>
        </p:nvSpPr>
        <p:spPr>
          <a:xfrm>
            <a:off x="3879648" y="6196801"/>
            <a:ext cx="3915111" cy="369332"/>
          </a:xfrm>
          <a:prstGeom prst="rect">
            <a:avLst/>
          </a:prstGeom>
          <a:noFill/>
        </p:spPr>
        <p:txBody>
          <a:bodyPr wrap="none" rtlCol="0">
            <a:spAutoFit/>
          </a:bodyPr>
          <a:lstStyle/>
          <a:p>
            <a:r>
              <a:rPr lang="en-US" dirty="0" smtClean="0"/>
              <a:t>Statistical </a:t>
            </a:r>
            <a:r>
              <a:rPr lang="en-US" dirty="0"/>
              <a:t>P</a:t>
            </a:r>
            <a:r>
              <a:rPr lang="en-US" altLang="zh-CN" dirty="0" smtClean="0"/>
              <a:t>attern </a:t>
            </a:r>
            <a:r>
              <a:rPr lang="en-US" dirty="0" smtClean="0"/>
              <a:t>of SIP History R</a:t>
            </a:r>
            <a:r>
              <a:rPr lang="en-US" altLang="zh-CN" dirty="0" smtClean="0"/>
              <a:t>ecords</a:t>
            </a:r>
            <a:endParaRPr lang="en-US" dirty="0"/>
          </a:p>
        </p:txBody>
      </p:sp>
      <p:sp>
        <p:nvSpPr>
          <p:cNvPr id="31" name="Rectangle: Rounded Corners 10">
            <a:extLst>
              <a:ext uri="{FF2B5EF4-FFF2-40B4-BE49-F238E27FC236}">
                <a16:creationId xmlns:a16="http://schemas.microsoft.com/office/drawing/2014/main" xmlns="" id="{FB6657AD-7C97-4B16-963C-8797ED82EF4D}"/>
              </a:ext>
            </a:extLst>
          </p:cNvPr>
          <p:cNvSpPr/>
          <p:nvPr/>
        </p:nvSpPr>
        <p:spPr>
          <a:xfrm>
            <a:off x="7794759" y="4781469"/>
            <a:ext cx="1752446" cy="69494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SIP Probabilistic Prediction</a:t>
            </a:r>
            <a:endParaRPr lang="en-US" dirty="0"/>
          </a:p>
        </p:txBody>
      </p:sp>
      <p:sp>
        <p:nvSpPr>
          <p:cNvPr id="32" name="Arrow: Right 12">
            <a:extLst>
              <a:ext uri="{FF2B5EF4-FFF2-40B4-BE49-F238E27FC236}">
                <a16:creationId xmlns:a16="http://schemas.microsoft.com/office/drawing/2014/main" xmlns="" id="{B82EDFFC-082A-497F-8CDD-0688DA7E19BF}"/>
              </a:ext>
            </a:extLst>
          </p:cNvPr>
          <p:cNvSpPr/>
          <p:nvPr/>
        </p:nvSpPr>
        <p:spPr>
          <a:xfrm>
            <a:off x="6916935" y="5055789"/>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Right 9">
            <a:extLst>
              <a:ext uri="{FF2B5EF4-FFF2-40B4-BE49-F238E27FC236}">
                <a16:creationId xmlns:a16="http://schemas.microsoft.com/office/drawing/2014/main" xmlns="" id="{AD4B9368-5F3C-414D-BF2F-02C6D7AFF0FC}"/>
              </a:ext>
            </a:extLst>
          </p:cNvPr>
          <p:cNvSpPr/>
          <p:nvPr/>
        </p:nvSpPr>
        <p:spPr>
          <a:xfrm rot="14083895">
            <a:off x="7780290" y="4331113"/>
            <a:ext cx="877824" cy="146304"/>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5" name="Oval 34">
            <a:extLst>
              <a:ext uri="{FF2B5EF4-FFF2-40B4-BE49-F238E27FC236}">
                <a16:creationId xmlns:a16="http://schemas.microsoft.com/office/drawing/2014/main" xmlns="" id="{7F4B5A15-FF0C-4A42-B191-0B1264768FFA}"/>
              </a:ext>
            </a:extLst>
          </p:cNvPr>
          <p:cNvSpPr/>
          <p:nvPr/>
        </p:nvSpPr>
        <p:spPr>
          <a:xfrm>
            <a:off x="4506190" y="2915260"/>
            <a:ext cx="3886200" cy="12436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Neonatologist                            </a:t>
            </a:r>
            <a:endParaRPr lang="en-US" dirty="0"/>
          </a:p>
        </p:txBody>
      </p:sp>
      <p:sp>
        <p:nvSpPr>
          <p:cNvPr id="36" name="Rectangle: Rounded Corners 5">
            <a:extLst>
              <a:ext uri="{FF2B5EF4-FFF2-40B4-BE49-F238E27FC236}">
                <a16:creationId xmlns:a16="http://schemas.microsoft.com/office/drawing/2014/main" xmlns="" id="{878C79D7-7857-47AD-86D9-75EBF903E5C5}"/>
              </a:ext>
            </a:extLst>
          </p:cNvPr>
          <p:cNvSpPr/>
          <p:nvPr/>
        </p:nvSpPr>
        <p:spPr>
          <a:xfrm>
            <a:off x="1675687" y="409345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a:t>Gestational </a:t>
            </a:r>
            <a:r>
              <a:rPr lang="en-US" sz="1600" dirty="0" smtClean="0"/>
              <a:t>Age</a:t>
            </a:r>
            <a:endParaRPr lang="en-US" sz="1600" dirty="0"/>
          </a:p>
        </p:txBody>
      </p:sp>
      <p:sp>
        <p:nvSpPr>
          <p:cNvPr id="37" name="Rectangle: Rounded Corners 7">
            <a:extLst>
              <a:ext uri="{FF2B5EF4-FFF2-40B4-BE49-F238E27FC236}">
                <a16:creationId xmlns:a16="http://schemas.microsoft.com/office/drawing/2014/main" xmlns="" id="{D5E5FE08-5C6B-4B34-B8DB-997DC7A013FE}"/>
              </a:ext>
            </a:extLst>
          </p:cNvPr>
          <p:cNvSpPr/>
          <p:nvPr/>
        </p:nvSpPr>
        <p:spPr>
          <a:xfrm>
            <a:off x="1378507" y="1997738"/>
            <a:ext cx="2249424" cy="4760246"/>
          </a:xfrm>
          <a:prstGeom prst="roundRect">
            <a:avLst>
              <a:gd name="adj" fmla="val 931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38" name="TextBox 37">
            <a:extLst>
              <a:ext uri="{FF2B5EF4-FFF2-40B4-BE49-F238E27FC236}">
                <a16:creationId xmlns:a16="http://schemas.microsoft.com/office/drawing/2014/main" xmlns="" id="{8695EE34-41F2-4CE8-B7A4-68C19C84AEF0}"/>
              </a:ext>
            </a:extLst>
          </p:cNvPr>
          <p:cNvSpPr txBox="1"/>
          <p:nvPr/>
        </p:nvSpPr>
        <p:spPr>
          <a:xfrm>
            <a:off x="1641834" y="6454315"/>
            <a:ext cx="1737079" cy="369332"/>
          </a:xfrm>
          <a:prstGeom prst="rect">
            <a:avLst/>
          </a:prstGeom>
          <a:noFill/>
        </p:spPr>
        <p:txBody>
          <a:bodyPr wrap="none" rtlCol="0">
            <a:spAutoFit/>
          </a:bodyPr>
          <a:lstStyle/>
          <a:p>
            <a:r>
              <a:rPr lang="en-US" dirty="0" smtClean="0"/>
              <a:t>Clinical Evidence</a:t>
            </a:r>
            <a:endParaRPr lang="en-US" dirty="0"/>
          </a:p>
        </p:txBody>
      </p:sp>
      <p:sp>
        <p:nvSpPr>
          <p:cNvPr id="39" name="Arrow: Right 9">
            <a:extLst>
              <a:ext uri="{FF2B5EF4-FFF2-40B4-BE49-F238E27FC236}">
                <a16:creationId xmlns:a16="http://schemas.microsoft.com/office/drawing/2014/main" xmlns="" id="{AD4B9368-5F3C-414D-BF2F-02C6D7AFF0FC}"/>
              </a:ext>
            </a:extLst>
          </p:cNvPr>
          <p:cNvSpPr/>
          <p:nvPr/>
        </p:nvSpPr>
        <p:spPr>
          <a:xfrm>
            <a:off x="3635086" y="3463950"/>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10">
            <a:extLst>
              <a:ext uri="{FF2B5EF4-FFF2-40B4-BE49-F238E27FC236}">
                <a16:creationId xmlns:a16="http://schemas.microsoft.com/office/drawing/2014/main" xmlns="" id="{FB6657AD-7C97-4B16-963C-8797ED82EF4D}"/>
              </a:ext>
            </a:extLst>
          </p:cNvPr>
          <p:cNvSpPr/>
          <p:nvPr/>
        </p:nvSpPr>
        <p:spPr>
          <a:xfrm>
            <a:off x="9276934" y="3217062"/>
            <a:ext cx="1752446" cy="69494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SIP Probabilistic Estimation</a:t>
            </a:r>
            <a:endParaRPr lang="en-US" dirty="0"/>
          </a:p>
        </p:txBody>
      </p:sp>
      <p:sp>
        <p:nvSpPr>
          <p:cNvPr id="41" name="Arrow: Right 12">
            <a:extLst>
              <a:ext uri="{FF2B5EF4-FFF2-40B4-BE49-F238E27FC236}">
                <a16:creationId xmlns:a16="http://schemas.microsoft.com/office/drawing/2014/main" xmlns="" id="{B82EDFFC-082A-497F-8CDD-0688DA7E19BF}"/>
              </a:ext>
            </a:extLst>
          </p:cNvPr>
          <p:cNvSpPr/>
          <p:nvPr/>
        </p:nvSpPr>
        <p:spPr>
          <a:xfrm>
            <a:off x="8399110" y="3491382"/>
            <a:ext cx="877824" cy="1463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
            <a:extLst>
              <a:ext uri="{FF2B5EF4-FFF2-40B4-BE49-F238E27FC236}">
                <a16:creationId xmlns:a16="http://schemas.microsoft.com/office/drawing/2014/main" xmlns="" id="{BC84B39E-203D-4D02-8B41-A8DF55BE37F8}"/>
              </a:ext>
            </a:extLst>
          </p:cNvPr>
          <p:cNvSpPr/>
          <p:nvPr/>
        </p:nvSpPr>
        <p:spPr>
          <a:xfrm>
            <a:off x="1675687" y="2157146"/>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Birth Weight</a:t>
            </a:r>
            <a:endParaRPr lang="en-US" dirty="0"/>
          </a:p>
        </p:txBody>
      </p:sp>
      <p:sp>
        <p:nvSpPr>
          <p:cNvPr id="43" name="Rectangle: Rounded Corners 4">
            <a:extLst>
              <a:ext uri="{FF2B5EF4-FFF2-40B4-BE49-F238E27FC236}">
                <a16:creationId xmlns:a16="http://schemas.microsoft.com/office/drawing/2014/main" xmlns="" id="{BC84B39E-203D-4D02-8B41-A8DF55BE37F8}"/>
              </a:ext>
            </a:extLst>
          </p:cNvPr>
          <p:cNvSpPr/>
          <p:nvPr/>
        </p:nvSpPr>
        <p:spPr>
          <a:xfrm>
            <a:off x="1662765" y="2641913"/>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Apgar_5</a:t>
            </a:r>
            <a:endParaRPr lang="en-US" dirty="0"/>
          </a:p>
        </p:txBody>
      </p:sp>
      <p:sp>
        <p:nvSpPr>
          <p:cNvPr id="44" name="Rectangle: Rounded Corners 4">
            <a:extLst>
              <a:ext uri="{FF2B5EF4-FFF2-40B4-BE49-F238E27FC236}">
                <a16:creationId xmlns:a16="http://schemas.microsoft.com/office/drawing/2014/main" xmlns="" id="{BC84B39E-203D-4D02-8B41-A8DF55BE37F8}"/>
              </a:ext>
            </a:extLst>
          </p:cNvPr>
          <p:cNvSpPr/>
          <p:nvPr/>
        </p:nvSpPr>
        <p:spPr>
          <a:xfrm>
            <a:off x="1675687" y="3125759"/>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Race</a:t>
            </a:r>
            <a:endParaRPr lang="en-US" dirty="0"/>
          </a:p>
        </p:txBody>
      </p:sp>
      <p:sp>
        <p:nvSpPr>
          <p:cNvPr id="45" name="Rectangle: Rounded Corners 4">
            <a:extLst>
              <a:ext uri="{FF2B5EF4-FFF2-40B4-BE49-F238E27FC236}">
                <a16:creationId xmlns:a16="http://schemas.microsoft.com/office/drawing/2014/main" xmlns="" id="{BC84B39E-203D-4D02-8B41-A8DF55BE37F8}"/>
              </a:ext>
            </a:extLst>
          </p:cNvPr>
          <p:cNvSpPr/>
          <p:nvPr/>
        </p:nvSpPr>
        <p:spPr>
          <a:xfrm>
            <a:off x="1682842" y="3609605"/>
            <a:ext cx="1655064" cy="35252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smtClean="0"/>
              <a:t>Sex</a:t>
            </a:r>
            <a:endParaRPr lang="en-US" dirty="0"/>
          </a:p>
        </p:txBody>
      </p:sp>
      <p:sp>
        <p:nvSpPr>
          <p:cNvPr id="46" name="Rectangle: Rounded Corners 5">
            <a:extLst>
              <a:ext uri="{FF2B5EF4-FFF2-40B4-BE49-F238E27FC236}">
                <a16:creationId xmlns:a16="http://schemas.microsoft.com/office/drawing/2014/main" xmlns="" id="{878C79D7-7857-47AD-86D9-75EBF903E5C5}"/>
              </a:ext>
            </a:extLst>
          </p:cNvPr>
          <p:cNvSpPr/>
          <p:nvPr/>
        </p:nvSpPr>
        <p:spPr>
          <a:xfrm>
            <a:off x="1682842" y="462337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IVH</a:t>
            </a:r>
            <a:endParaRPr lang="en-US" sz="1600" dirty="0"/>
          </a:p>
        </p:txBody>
      </p:sp>
      <p:sp>
        <p:nvSpPr>
          <p:cNvPr id="47" name="Rectangle: Rounded Corners 5">
            <a:extLst>
              <a:ext uri="{FF2B5EF4-FFF2-40B4-BE49-F238E27FC236}">
                <a16:creationId xmlns:a16="http://schemas.microsoft.com/office/drawing/2014/main" xmlns="" id="{878C79D7-7857-47AD-86D9-75EBF903E5C5}"/>
              </a:ext>
            </a:extLst>
          </p:cNvPr>
          <p:cNvSpPr/>
          <p:nvPr/>
        </p:nvSpPr>
        <p:spPr>
          <a:xfrm>
            <a:off x="1675687" y="5153301"/>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Preterm Labor</a:t>
            </a:r>
            <a:endParaRPr lang="en-US" sz="1600" dirty="0"/>
          </a:p>
        </p:txBody>
      </p:sp>
      <p:sp>
        <p:nvSpPr>
          <p:cNvPr id="48" name="Rectangle: Rounded Corners 5">
            <a:extLst>
              <a:ext uri="{FF2B5EF4-FFF2-40B4-BE49-F238E27FC236}">
                <a16:creationId xmlns:a16="http://schemas.microsoft.com/office/drawing/2014/main" xmlns="" id="{878C79D7-7857-47AD-86D9-75EBF903E5C5}"/>
              </a:ext>
            </a:extLst>
          </p:cNvPr>
          <p:cNvSpPr/>
          <p:nvPr/>
        </p:nvSpPr>
        <p:spPr>
          <a:xfrm>
            <a:off x="1675687" y="5683226"/>
            <a:ext cx="1655064" cy="3986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Multiple Gest</a:t>
            </a:r>
            <a:endParaRPr lang="en-US" sz="1600" dirty="0"/>
          </a:p>
        </p:txBody>
      </p:sp>
      <p:sp>
        <p:nvSpPr>
          <p:cNvPr id="49" name="TextBox 48"/>
          <p:cNvSpPr txBox="1"/>
          <p:nvPr/>
        </p:nvSpPr>
        <p:spPr>
          <a:xfrm>
            <a:off x="2318615" y="6084983"/>
            <a:ext cx="343364" cy="369332"/>
          </a:xfrm>
          <a:prstGeom prst="rect">
            <a:avLst/>
          </a:prstGeom>
          <a:noFill/>
        </p:spPr>
        <p:txBody>
          <a:bodyPr wrap="none" rtlCol="0">
            <a:spAutoFit/>
          </a:bodyPr>
          <a:lstStyle/>
          <a:p>
            <a:r>
              <a:rPr lang="en-US" dirty="0" smtClean="0"/>
              <a:t>…</a:t>
            </a:r>
            <a:endParaRPr lang="en-US" dirty="0"/>
          </a:p>
        </p:txBody>
      </p:sp>
      <p:pic>
        <p:nvPicPr>
          <p:cNvPr id="50" name="Picture 49"/>
          <p:cNvPicPr>
            <a:picLocks noChangeAspect="1"/>
          </p:cNvPicPr>
          <p:nvPr/>
        </p:nvPicPr>
        <p:blipFill>
          <a:blip r:embed="rId4"/>
          <a:stretch>
            <a:fillRect/>
          </a:stretch>
        </p:blipFill>
        <p:spPr>
          <a:xfrm>
            <a:off x="7118049" y="2963207"/>
            <a:ext cx="990600" cy="1209675"/>
          </a:xfrm>
          <a:prstGeom prst="rect">
            <a:avLst/>
          </a:prstGeom>
        </p:spPr>
      </p:pic>
      <p:sp>
        <p:nvSpPr>
          <p:cNvPr id="51" name="Curved Left Arrow 50"/>
          <p:cNvSpPr/>
          <p:nvPr/>
        </p:nvSpPr>
        <p:spPr>
          <a:xfrm rot="16200000">
            <a:off x="6062370" y="2041866"/>
            <a:ext cx="507040" cy="1186910"/>
          </a:xfrm>
          <a:prstGeom prst="curvedLeftArrow">
            <a:avLst>
              <a:gd name="adj1" fmla="val 12841"/>
              <a:gd name="adj2" fmla="val 27694"/>
              <a:gd name="adj3" fmla="val 1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TextBox 51"/>
          <p:cNvSpPr txBox="1"/>
          <p:nvPr/>
        </p:nvSpPr>
        <p:spPr>
          <a:xfrm>
            <a:off x="4654377" y="2012469"/>
            <a:ext cx="3323026" cy="369332"/>
          </a:xfrm>
          <a:prstGeom prst="rect">
            <a:avLst/>
          </a:prstGeom>
          <a:noFill/>
        </p:spPr>
        <p:txBody>
          <a:bodyPr wrap="none" rtlCol="0">
            <a:spAutoFit/>
          </a:bodyPr>
          <a:lstStyle/>
          <a:p>
            <a:r>
              <a:rPr lang="en-US" dirty="0" smtClean="0"/>
              <a:t>Clinical Knowledge &amp; Experiences</a:t>
            </a:r>
            <a:endParaRPr lang="en-US" dirty="0"/>
          </a:p>
        </p:txBody>
      </p:sp>
      <p:sp>
        <p:nvSpPr>
          <p:cNvPr id="53" name="TextBox 52"/>
          <p:cNvSpPr txBox="1"/>
          <p:nvPr/>
        </p:nvSpPr>
        <p:spPr>
          <a:xfrm>
            <a:off x="7754425" y="2703241"/>
            <a:ext cx="445956" cy="769441"/>
          </a:xfrm>
          <a:prstGeom prst="rect">
            <a:avLst/>
          </a:prstGeom>
          <a:noFill/>
        </p:spPr>
        <p:txBody>
          <a:bodyPr wrap="none" rtlCol="0">
            <a:spAutoFit/>
          </a:bodyPr>
          <a:lstStyle/>
          <a:p>
            <a:r>
              <a:rPr lang="en-US" sz="4400" dirty="0" smtClean="0"/>
              <a:t>?</a:t>
            </a:r>
            <a:endParaRPr lang="en-US" sz="4400" dirty="0"/>
          </a:p>
        </p:txBody>
      </p:sp>
      <p:pic>
        <p:nvPicPr>
          <p:cNvPr id="6" name="Picture 5"/>
          <p:cNvPicPr>
            <a:picLocks noChangeAspect="1"/>
          </p:cNvPicPr>
          <p:nvPr/>
        </p:nvPicPr>
        <p:blipFill>
          <a:blip r:embed="rId5"/>
          <a:stretch>
            <a:fillRect/>
          </a:stretch>
        </p:blipFill>
        <p:spPr>
          <a:xfrm>
            <a:off x="7586665" y="2654537"/>
            <a:ext cx="718953" cy="777246"/>
          </a:xfrm>
          <a:prstGeom prst="rect">
            <a:avLst/>
          </a:prstGeom>
        </p:spPr>
      </p:pic>
      <p:sp>
        <p:nvSpPr>
          <p:cNvPr id="5" name="TextBox 4"/>
          <p:cNvSpPr txBox="1"/>
          <p:nvPr/>
        </p:nvSpPr>
        <p:spPr>
          <a:xfrm>
            <a:off x="566468" y="896170"/>
            <a:ext cx="11059064" cy="830997"/>
          </a:xfrm>
          <a:prstGeom prst="rect">
            <a:avLst/>
          </a:prstGeom>
          <a:noFill/>
        </p:spPr>
        <p:txBody>
          <a:bodyPr wrap="square" rtlCol="0">
            <a:spAutoFit/>
          </a:bodyPr>
          <a:lstStyle/>
          <a:p>
            <a:r>
              <a:rPr lang="en-US" sz="2400" dirty="0" smtClean="0"/>
              <a:t>AIM: to </a:t>
            </a:r>
            <a:r>
              <a:rPr lang="en-US" sz="2400" dirty="0"/>
              <a:t>develop a machine learning algorithm for a probabilistic prediction of SIP using data available from our NICU database at UCONN Health NICU of Connecticut Children’s</a:t>
            </a:r>
          </a:p>
        </p:txBody>
      </p:sp>
    </p:spTree>
    <p:extLst>
      <p:ext uri="{BB962C8B-B14F-4D97-AF65-F5344CB8AC3E}">
        <p14:creationId xmlns:p14="http://schemas.microsoft.com/office/powerpoint/2010/main" val="224210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par>
                          <p:cTn id="8" fill="hold">
                            <p:stCondLst>
                              <p:cond delay="500"/>
                            </p:stCondLst>
                            <p:childTnLst>
                              <p:par>
                                <p:cTn id="9" presetID="1" presetClass="exit" presetSubtype="0" fill="hold" grpId="0" nodeType="afterEffect">
                                  <p:stCondLst>
                                    <p:cond delay="0"/>
                                  </p:stCondLst>
                                  <p:childTnLst>
                                    <p:set>
                                      <p:cBhvr>
                                        <p:cTn id="10" dur="1" fill="hold">
                                          <p:stCondLst>
                                            <p:cond delay="0"/>
                                          </p:stCondLst>
                                        </p:cTn>
                                        <p:tgtEl>
                                          <p:spTgt spid="5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Source</a:t>
            </a:r>
            <a:endParaRPr lang="en-US" dirty="0"/>
          </a:p>
        </p:txBody>
      </p:sp>
      <p:sp>
        <p:nvSpPr>
          <p:cNvPr id="3" name="Content Placeholder 2"/>
          <p:cNvSpPr>
            <a:spLocks noGrp="1"/>
          </p:cNvSpPr>
          <p:nvPr>
            <p:ph idx="1"/>
          </p:nvPr>
        </p:nvSpPr>
        <p:spPr/>
        <p:txBody>
          <a:bodyPr/>
          <a:lstStyle/>
          <a:p>
            <a:r>
              <a:rPr lang="en-US" dirty="0" smtClean="0"/>
              <a:t>Database (NIS-5) available from UCONN Health NICU of Connecticut Children’s</a:t>
            </a:r>
          </a:p>
          <a:p>
            <a:r>
              <a:rPr lang="en-US" dirty="0" smtClean="0"/>
              <a:t>Data available for all NICU admissions from 1991 to 2018</a:t>
            </a:r>
          </a:p>
          <a:p>
            <a:r>
              <a:rPr lang="en-US" dirty="0" smtClean="0"/>
              <a:t>All admissions were included</a:t>
            </a:r>
          </a:p>
          <a:p>
            <a:r>
              <a:rPr lang="en-US" dirty="0" smtClean="0"/>
              <a:t>No exclusions were made</a:t>
            </a:r>
          </a:p>
          <a:p>
            <a:endParaRPr lang="en-US" dirty="0" smtClean="0"/>
          </a:p>
          <a:p>
            <a:endParaRPr lang="en-US" dirty="0"/>
          </a:p>
        </p:txBody>
      </p:sp>
    </p:spTree>
    <p:extLst>
      <p:ext uri="{BB962C8B-B14F-4D97-AF65-F5344CB8AC3E}">
        <p14:creationId xmlns:p14="http://schemas.microsoft.com/office/powerpoint/2010/main" val="18271016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Patient Detail</a:t>
            </a:r>
            <a:endParaRPr lang="en-US" dirty="0"/>
          </a:p>
        </p:txBody>
      </p:sp>
      <p:sp>
        <p:nvSpPr>
          <p:cNvPr id="3" name="Content Placeholder 2"/>
          <p:cNvSpPr>
            <a:spLocks noGrp="1"/>
          </p:cNvSpPr>
          <p:nvPr>
            <p:ph idx="1"/>
          </p:nvPr>
        </p:nvSpPr>
        <p:spPr/>
        <p:txBody>
          <a:bodyPr/>
          <a:lstStyle/>
          <a:p>
            <a:r>
              <a:rPr lang="en-US" dirty="0" smtClean="0"/>
              <a:t>Total number of patients in the database were = 15, 299</a:t>
            </a:r>
          </a:p>
          <a:p>
            <a:r>
              <a:rPr lang="en-US" dirty="0" smtClean="0"/>
              <a:t>Total number of maternal and infant risk factors studied were = 55</a:t>
            </a:r>
          </a:p>
          <a:p>
            <a:r>
              <a:rPr lang="en-US" dirty="0" smtClean="0"/>
              <a:t>Total number of infants with SIP were = 95</a:t>
            </a:r>
          </a:p>
          <a:p>
            <a:r>
              <a:rPr lang="en-US" dirty="0" smtClean="0"/>
              <a:t>Total number of </a:t>
            </a:r>
            <a:r>
              <a:rPr lang="en-US" dirty="0"/>
              <a:t>infants with </a:t>
            </a:r>
            <a:r>
              <a:rPr lang="en-US" dirty="0" smtClean="0"/>
              <a:t>NEC were = </a:t>
            </a:r>
            <a:r>
              <a:rPr lang="en-US" dirty="0"/>
              <a:t>292</a:t>
            </a:r>
          </a:p>
        </p:txBody>
      </p:sp>
    </p:spTree>
    <p:extLst>
      <p:ext uri="{BB962C8B-B14F-4D97-AF65-F5344CB8AC3E}">
        <p14:creationId xmlns:p14="http://schemas.microsoft.com/office/powerpoint/2010/main" val="40819172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 Two Phases</a:t>
            </a:r>
            <a:endParaRPr lang="en-US" dirty="0"/>
          </a:p>
        </p:txBody>
      </p:sp>
      <p:sp>
        <p:nvSpPr>
          <p:cNvPr id="9" name="Rounded Rectangle 8"/>
          <p:cNvSpPr/>
          <p:nvPr/>
        </p:nvSpPr>
        <p:spPr>
          <a:xfrm>
            <a:off x="228085" y="1655041"/>
            <a:ext cx="5550989" cy="3276600"/>
          </a:xfrm>
          <a:prstGeom prst="roundRect">
            <a:avLst/>
          </a:prstGeom>
          <a:gradFill>
            <a:gsLst>
              <a:gs pos="0">
                <a:schemeClr val="accent1">
                  <a:lumMod val="110000"/>
                  <a:satMod val="105000"/>
                  <a:tint val="67000"/>
                  <a:alpha val="45000"/>
                </a:schemeClr>
              </a:gs>
              <a:gs pos="50000">
                <a:schemeClr val="accent1">
                  <a:lumMod val="105000"/>
                  <a:satMod val="103000"/>
                  <a:tint val="73000"/>
                  <a:alpha val="38000"/>
                </a:schemeClr>
              </a:gs>
              <a:gs pos="100000">
                <a:schemeClr val="accent1">
                  <a:lumMod val="105000"/>
                  <a:satMod val="109000"/>
                  <a:tint val="81000"/>
                  <a:alpha val="70000"/>
                </a:schemeClr>
              </a:gs>
            </a:gsLst>
          </a:gra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1" name="Oval 10">
            <a:extLst>
              <a:ext uri="{FF2B5EF4-FFF2-40B4-BE49-F238E27FC236}">
                <a16:creationId xmlns:a16="http://schemas.microsoft.com/office/drawing/2014/main" xmlns="" id="{7F4B5A15-FF0C-4A42-B191-0B1264768FFA}"/>
              </a:ext>
            </a:extLst>
          </p:cNvPr>
          <p:cNvSpPr/>
          <p:nvPr/>
        </p:nvSpPr>
        <p:spPr>
          <a:xfrm>
            <a:off x="4766008" y="5217263"/>
            <a:ext cx="2396000" cy="124368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Machine Learning</a:t>
            </a:r>
            <a:endParaRPr lang="en-US" dirty="0"/>
          </a:p>
        </p:txBody>
      </p:sp>
      <p:pic>
        <p:nvPicPr>
          <p:cNvPr id="12" name="Picture 11"/>
          <p:cNvPicPr>
            <a:picLocks noChangeAspect="1"/>
          </p:cNvPicPr>
          <p:nvPr/>
        </p:nvPicPr>
        <p:blipFill>
          <a:blip r:embed="rId3"/>
          <a:stretch>
            <a:fillRect/>
          </a:stretch>
        </p:blipFill>
        <p:spPr>
          <a:xfrm>
            <a:off x="6182594" y="5261632"/>
            <a:ext cx="1119969" cy="1145302"/>
          </a:xfrm>
          <a:prstGeom prst="rect">
            <a:avLst/>
          </a:prstGeom>
        </p:spPr>
      </p:pic>
      <p:sp>
        <p:nvSpPr>
          <p:cNvPr id="13" name="TextBox 12"/>
          <p:cNvSpPr txBox="1"/>
          <p:nvPr/>
        </p:nvSpPr>
        <p:spPr>
          <a:xfrm>
            <a:off x="1268329" y="1637063"/>
            <a:ext cx="3225966" cy="461665"/>
          </a:xfrm>
          <a:prstGeom prst="rect">
            <a:avLst/>
          </a:prstGeom>
          <a:noFill/>
        </p:spPr>
        <p:txBody>
          <a:bodyPr wrap="square" rtlCol="0">
            <a:spAutoFit/>
          </a:bodyPr>
          <a:lstStyle/>
          <a:p>
            <a:r>
              <a:rPr lang="en-US" sz="2400" b="1" dirty="0" smtClean="0"/>
              <a:t>Phase 1: Model Training</a:t>
            </a:r>
            <a:endParaRPr lang="en-US" sz="2400" b="1" dirty="0"/>
          </a:p>
        </p:txBody>
      </p:sp>
      <p:sp>
        <p:nvSpPr>
          <p:cNvPr id="14" name="TextBox 13"/>
          <p:cNvSpPr txBox="1"/>
          <p:nvPr/>
        </p:nvSpPr>
        <p:spPr>
          <a:xfrm>
            <a:off x="293144" y="2999842"/>
            <a:ext cx="5420870" cy="1785104"/>
          </a:xfrm>
          <a:prstGeom prst="rect">
            <a:avLst/>
          </a:prstGeom>
          <a:noFill/>
        </p:spPr>
        <p:txBody>
          <a:bodyPr wrap="square" rtlCol="0">
            <a:spAutoFit/>
          </a:bodyPr>
          <a:lstStyle/>
          <a:p>
            <a:r>
              <a:rPr lang="en-US" sz="2000" dirty="0" smtClean="0"/>
              <a:t>Training data: </a:t>
            </a:r>
            <a:r>
              <a:rPr lang="en-US" b="1" dirty="0" smtClean="0">
                <a:solidFill>
                  <a:schemeClr val="accent2">
                    <a:lumMod val="75000"/>
                  </a:schemeClr>
                </a:solidFill>
              </a:rPr>
              <a:t>15k</a:t>
            </a:r>
            <a:r>
              <a:rPr lang="en-US" dirty="0" smtClean="0"/>
              <a:t> newborn infants, from </a:t>
            </a:r>
            <a:r>
              <a:rPr lang="en-US" b="1" dirty="0" smtClean="0">
                <a:solidFill>
                  <a:schemeClr val="accent2">
                    <a:lumMod val="75000"/>
                  </a:schemeClr>
                </a:solidFill>
              </a:rPr>
              <a:t>1990 to 2018</a:t>
            </a:r>
            <a:endParaRPr lang="en-US" sz="2000" b="1" dirty="0" smtClean="0">
              <a:solidFill>
                <a:schemeClr val="accent2">
                  <a:lumMod val="75000"/>
                </a:schemeClr>
              </a:solidFill>
            </a:endParaRPr>
          </a:p>
          <a:p>
            <a:r>
              <a:rPr lang="en-US" sz="2000" dirty="0" smtClean="0"/>
              <a:t>Risk factors: </a:t>
            </a:r>
            <a:r>
              <a:rPr lang="en-US" sz="1400" dirty="0" err="1" smtClean="0"/>
              <a:t>GA_By_DatesWeek</a:t>
            </a:r>
            <a:r>
              <a:rPr lang="en-US" sz="1400" dirty="0" smtClean="0"/>
              <a:t>, </a:t>
            </a:r>
            <a:r>
              <a:rPr lang="en-US" sz="1400" dirty="0" err="1" smtClean="0"/>
              <a:t>BirthWeight</a:t>
            </a:r>
            <a:r>
              <a:rPr lang="en-US" sz="1400" dirty="0" smtClean="0"/>
              <a:t>, </a:t>
            </a:r>
            <a:r>
              <a:rPr lang="en-US" sz="1400" dirty="0" err="1" smtClean="0"/>
              <a:t>ansteroid</a:t>
            </a:r>
            <a:r>
              <a:rPr lang="en-US" sz="1400" dirty="0" smtClean="0"/>
              <a:t>, indomethacin, sepsis, </a:t>
            </a:r>
            <a:r>
              <a:rPr lang="en-US" sz="1400" dirty="0" err="1" smtClean="0"/>
              <a:t>Multiple_gest</a:t>
            </a:r>
            <a:r>
              <a:rPr lang="en-US" sz="1400" dirty="0" smtClean="0"/>
              <a:t>, Gravida, Para, Sex, Apgar_1, Apgar_5, </a:t>
            </a:r>
            <a:r>
              <a:rPr lang="en-US" sz="1400" dirty="0" err="1" smtClean="0"/>
              <a:t>DeliveryType</a:t>
            </a:r>
            <a:r>
              <a:rPr lang="en-US" sz="1400" dirty="0" smtClean="0"/>
              <a:t>, </a:t>
            </a:r>
            <a:r>
              <a:rPr lang="en-US" sz="1400" dirty="0" err="1" smtClean="0"/>
              <a:t>MothersAge</a:t>
            </a:r>
            <a:r>
              <a:rPr lang="en-US" sz="1400" dirty="0" smtClean="0"/>
              <a:t>, SGA,  BirthSequence1, BirthSequence2, PC-</a:t>
            </a:r>
            <a:r>
              <a:rPr lang="en-US" sz="1400" dirty="0" err="1" smtClean="0"/>
              <a:t>Vag</a:t>
            </a:r>
            <a:r>
              <a:rPr lang="en-US" sz="1400" dirty="0" smtClean="0"/>
              <a:t>-</a:t>
            </a:r>
            <a:r>
              <a:rPr lang="en-US" sz="1400" dirty="0" err="1" smtClean="0"/>
              <a:t>Bleedg</a:t>
            </a:r>
            <a:r>
              <a:rPr lang="en-US" sz="1400" dirty="0" smtClean="0"/>
              <a:t>, PC-</a:t>
            </a:r>
            <a:r>
              <a:rPr lang="en-US" sz="1400" dirty="0" err="1" smtClean="0"/>
              <a:t>Preterm_Labor</a:t>
            </a:r>
            <a:r>
              <a:rPr lang="en-US" sz="1400" dirty="0" smtClean="0"/>
              <a:t>, PC-</a:t>
            </a:r>
            <a:r>
              <a:rPr lang="en-US" sz="1400" dirty="0" err="1" smtClean="0"/>
              <a:t>Hypertens</a:t>
            </a:r>
            <a:r>
              <a:rPr lang="en-US" sz="1400" dirty="0" smtClean="0"/>
              <a:t>, MFC-</a:t>
            </a:r>
            <a:r>
              <a:rPr lang="en-US" sz="1400" dirty="0" err="1" smtClean="0"/>
              <a:t>Chorioamn</a:t>
            </a:r>
            <a:r>
              <a:rPr lang="en-US" sz="1400" dirty="0" smtClean="0"/>
              <a:t>, MFC-Fetal </a:t>
            </a:r>
            <a:r>
              <a:rPr lang="en-US" sz="1400" dirty="0" err="1" smtClean="0"/>
              <a:t>Decel</a:t>
            </a:r>
            <a:r>
              <a:rPr lang="en-US" sz="1400" dirty="0" smtClean="0"/>
              <a:t>, </a:t>
            </a:r>
            <a:r>
              <a:rPr lang="en-US" sz="1400" dirty="0" err="1" smtClean="0"/>
              <a:t>Magn</a:t>
            </a:r>
            <a:r>
              <a:rPr lang="en-US" sz="1400" dirty="0" smtClean="0"/>
              <a:t> </a:t>
            </a:r>
            <a:r>
              <a:rPr lang="en-US" sz="1400" dirty="0" err="1"/>
              <a:t>Sulf</a:t>
            </a:r>
            <a:r>
              <a:rPr lang="en-US" sz="1400" dirty="0"/>
              <a:t> (Labor</a:t>
            </a:r>
            <a:r>
              <a:rPr lang="en-US" sz="1400" dirty="0" smtClean="0"/>
              <a:t>), Year </a:t>
            </a:r>
            <a:r>
              <a:rPr lang="en-US" sz="1400" dirty="0"/>
              <a:t>of </a:t>
            </a:r>
            <a:r>
              <a:rPr lang="en-US" sz="1400" dirty="0" smtClean="0"/>
              <a:t>Birth, LBW, VLBW, </a:t>
            </a:r>
            <a:r>
              <a:rPr lang="en-US" sz="1400" dirty="0" err="1" smtClean="0"/>
              <a:t>White_YN</a:t>
            </a:r>
            <a:r>
              <a:rPr lang="en-US" sz="1400" dirty="0" smtClean="0"/>
              <a:t>, </a:t>
            </a:r>
            <a:r>
              <a:rPr lang="en-US" sz="1400" dirty="0" err="1" smtClean="0"/>
              <a:t>Multiple_YN</a:t>
            </a:r>
            <a:r>
              <a:rPr lang="en-US" sz="1400" dirty="0" smtClean="0"/>
              <a:t>, RDS, BPD, PDA, </a:t>
            </a:r>
            <a:r>
              <a:rPr lang="en-US" sz="1400" dirty="0" err="1" smtClean="0"/>
              <a:t>ivh</a:t>
            </a:r>
            <a:r>
              <a:rPr lang="en-US" sz="1400" dirty="0" smtClean="0"/>
              <a:t>, </a:t>
            </a:r>
            <a:r>
              <a:rPr lang="en-US" sz="1400" dirty="0" err="1" smtClean="0"/>
              <a:t>ivh</a:t>
            </a:r>
            <a:r>
              <a:rPr lang="en-US" sz="1400" dirty="0" smtClean="0"/>
              <a:t> severe etc.</a:t>
            </a:r>
          </a:p>
        </p:txBody>
      </p:sp>
      <p:sp>
        <p:nvSpPr>
          <p:cNvPr id="15" name="TextBox 14"/>
          <p:cNvSpPr txBox="1"/>
          <p:nvPr/>
        </p:nvSpPr>
        <p:spPr>
          <a:xfrm>
            <a:off x="358203" y="2040411"/>
            <a:ext cx="5420871" cy="707886"/>
          </a:xfrm>
          <a:prstGeom prst="rect">
            <a:avLst/>
          </a:prstGeom>
          <a:noFill/>
        </p:spPr>
        <p:txBody>
          <a:bodyPr wrap="square" rtlCol="0">
            <a:spAutoFit/>
          </a:bodyPr>
          <a:lstStyle/>
          <a:p>
            <a:r>
              <a:rPr lang="en-US" sz="2000" dirty="0" smtClean="0"/>
              <a:t>Learning statistical relations between clinical evidence and SIP</a:t>
            </a:r>
            <a:endParaRPr lang="en-US" sz="2400" dirty="0"/>
          </a:p>
        </p:txBody>
      </p:sp>
      <p:sp>
        <p:nvSpPr>
          <p:cNvPr id="16" name="Rounded Rectangle 15"/>
          <p:cNvSpPr/>
          <p:nvPr/>
        </p:nvSpPr>
        <p:spPr>
          <a:xfrm>
            <a:off x="6041668" y="1655040"/>
            <a:ext cx="5550990" cy="3276601"/>
          </a:xfrm>
          <a:prstGeom prst="roundRect">
            <a:avLst/>
          </a:prstGeom>
          <a:gradFill>
            <a:gsLst>
              <a:gs pos="0">
                <a:schemeClr val="accent1">
                  <a:lumMod val="110000"/>
                  <a:satMod val="105000"/>
                  <a:tint val="67000"/>
                  <a:alpha val="45000"/>
                </a:schemeClr>
              </a:gs>
              <a:gs pos="50000">
                <a:schemeClr val="accent1">
                  <a:lumMod val="105000"/>
                  <a:satMod val="103000"/>
                  <a:tint val="73000"/>
                  <a:alpha val="38000"/>
                </a:schemeClr>
              </a:gs>
              <a:gs pos="100000">
                <a:schemeClr val="accent1">
                  <a:lumMod val="105000"/>
                  <a:satMod val="109000"/>
                  <a:tint val="81000"/>
                  <a:alpha val="70000"/>
                </a:schemeClr>
              </a:gs>
            </a:gsLst>
          </a:gra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7" name="TextBox 16"/>
          <p:cNvSpPr txBox="1"/>
          <p:nvPr/>
        </p:nvSpPr>
        <p:spPr>
          <a:xfrm>
            <a:off x="7055518" y="1655040"/>
            <a:ext cx="3585411" cy="461665"/>
          </a:xfrm>
          <a:prstGeom prst="rect">
            <a:avLst/>
          </a:prstGeom>
          <a:noFill/>
        </p:spPr>
        <p:txBody>
          <a:bodyPr wrap="square" rtlCol="0">
            <a:spAutoFit/>
          </a:bodyPr>
          <a:lstStyle/>
          <a:p>
            <a:r>
              <a:rPr lang="en-US" sz="2400" b="1" dirty="0" smtClean="0"/>
              <a:t>Phase 2: Model Prediction</a:t>
            </a:r>
            <a:endParaRPr lang="en-US" sz="2400" b="1" dirty="0"/>
          </a:p>
        </p:txBody>
      </p:sp>
      <p:sp>
        <p:nvSpPr>
          <p:cNvPr id="18" name="TextBox 17"/>
          <p:cNvSpPr txBox="1"/>
          <p:nvPr/>
        </p:nvSpPr>
        <p:spPr>
          <a:xfrm>
            <a:off x="6171787" y="2010911"/>
            <a:ext cx="5420871" cy="707886"/>
          </a:xfrm>
          <a:prstGeom prst="rect">
            <a:avLst/>
          </a:prstGeom>
          <a:noFill/>
        </p:spPr>
        <p:txBody>
          <a:bodyPr wrap="square" rtlCol="0">
            <a:spAutoFit/>
          </a:bodyPr>
          <a:lstStyle/>
          <a:p>
            <a:r>
              <a:rPr lang="en-US" sz="2000" dirty="0" smtClean="0"/>
              <a:t>Predi</a:t>
            </a:r>
            <a:r>
              <a:rPr lang="en-US" sz="2000" dirty="0"/>
              <a:t>ct SIP based on the learned statistics and clinical evidence </a:t>
            </a:r>
          </a:p>
        </p:txBody>
      </p:sp>
      <p:sp>
        <p:nvSpPr>
          <p:cNvPr id="19" name="Curved Left Arrow 18"/>
          <p:cNvSpPr/>
          <p:nvPr/>
        </p:nvSpPr>
        <p:spPr>
          <a:xfrm rot="14739149">
            <a:off x="4945545" y="4877558"/>
            <a:ext cx="315837" cy="679410"/>
          </a:xfrm>
          <a:prstGeom prst="curvedLeftArrow">
            <a:avLst>
              <a:gd name="adj1" fmla="val 14666"/>
              <a:gd name="adj2" fmla="val 32915"/>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Left Arrow 19"/>
          <p:cNvSpPr/>
          <p:nvPr/>
        </p:nvSpPr>
        <p:spPr>
          <a:xfrm rot="8104947">
            <a:off x="6794733" y="5169432"/>
            <a:ext cx="415636" cy="14003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6236845" y="3027584"/>
            <a:ext cx="5290751" cy="1446550"/>
          </a:xfrm>
          <a:prstGeom prst="rect">
            <a:avLst/>
          </a:prstGeom>
          <a:noFill/>
        </p:spPr>
        <p:txBody>
          <a:bodyPr wrap="square" rtlCol="0">
            <a:spAutoFit/>
          </a:bodyPr>
          <a:lstStyle/>
          <a:p>
            <a:r>
              <a:rPr lang="en-US" sz="2000" dirty="0" smtClean="0"/>
              <a:t>Model input</a:t>
            </a:r>
            <a:r>
              <a:rPr lang="en-US" sz="2000" dirty="0"/>
              <a:t>:</a:t>
            </a:r>
            <a:endParaRPr lang="en-US" sz="2000" dirty="0" smtClean="0"/>
          </a:p>
          <a:p>
            <a:r>
              <a:rPr lang="en-US" sz="1600" dirty="0"/>
              <a:t> </a:t>
            </a:r>
            <a:r>
              <a:rPr lang="en-US" sz="1600" dirty="0" smtClean="0"/>
              <a:t>                 </a:t>
            </a:r>
            <a:r>
              <a:rPr lang="en-US" dirty="0" smtClean="0"/>
              <a:t>Risk factors of </a:t>
            </a:r>
            <a:r>
              <a:rPr lang="en-US" dirty="0"/>
              <a:t>a specific infant</a:t>
            </a:r>
          </a:p>
          <a:p>
            <a:r>
              <a:rPr lang="en-US" sz="2000" dirty="0" smtClean="0"/>
              <a:t>Model output: </a:t>
            </a:r>
          </a:p>
          <a:p>
            <a:r>
              <a:rPr lang="en-US" sz="1600" dirty="0"/>
              <a:t> </a:t>
            </a:r>
            <a:r>
              <a:rPr lang="en-US" sz="1600" dirty="0" smtClean="0"/>
              <a:t>                 </a:t>
            </a:r>
            <a:r>
              <a:rPr lang="en-US" dirty="0" smtClean="0"/>
              <a:t>probabilistic </a:t>
            </a:r>
            <a:r>
              <a:rPr lang="en-US" dirty="0"/>
              <a:t>prediction of SIP positive</a:t>
            </a:r>
          </a:p>
          <a:p>
            <a:endParaRPr lang="en-US" sz="1200" dirty="0"/>
          </a:p>
        </p:txBody>
      </p:sp>
      <p:sp>
        <p:nvSpPr>
          <p:cNvPr id="22" name="TextBox 21"/>
          <p:cNvSpPr txBox="1"/>
          <p:nvPr/>
        </p:nvSpPr>
        <p:spPr>
          <a:xfrm>
            <a:off x="6782223" y="4339167"/>
            <a:ext cx="4199996" cy="400110"/>
          </a:xfrm>
          <a:prstGeom prst="rect">
            <a:avLst/>
          </a:prstGeom>
          <a:noFill/>
        </p:spPr>
        <p:txBody>
          <a:bodyPr wrap="none" rtlCol="0">
            <a:spAutoFit/>
          </a:bodyPr>
          <a:lstStyle/>
          <a:p>
            <a:r>
              <a:rPr lang="en-US" sz="2000" dirty="0" smtClean="0"/>
              <a:t>Input </a:t>
            </a:r>
            <a:r>
              <a:rPr lang="en-US" sz="2000" dirty="0" smtClean="0">
                <a:sym typeface="Wingdings" panose="05000000000000000000" pitchFamily="2" charset="2"/>
              </a:rPr>
              <a:t> Well-trained model  output</a:t>
            </a:r>
            <a:endParaRPr lang="en-US" sz="2000" dirty="0"/>
          </a:p>
        </p:txBody>
      </p:sp>
    </p:spTree>
    <p:extLst>
      <p:ext uri="{BB962C8B-B14F-4D97-AF65-F5344CB8AC3E}">
        <p14:creationId xmlns:p14="http://schemas.microsoft.com/office/powerpoint/2010/main" val="11962284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 Model Comparison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16993386"/>
              </p:ext>
            </p:extLst>
          </p:nvPr>
        </p:nvGraphicFramePr>
        <p:xfrm>
          <a:off x="1021080" y="2432068"/>
          <a:ext cx="10149840" cy="198120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xmlns="" val="20000"/>
                    </a:ext>
                  </a:extLst>
                </a:gridCol>
                <a:gridCol w="3383280">
                  <a:extLst>
                    <a:ext uri="{9D8B030D-6E8A-4147-A177-3AD203B41FA5}">
                      <a16:colId xmlns:a16="http://schemas.microsoft.com/office/drawing/2014/main" xmlns="" val="20001"/>
                    </a:ext>
                  </a:extLst>
                </a:gridCol>
                <a:gridCol w="3383280">
                  <a:extLst>
                    <a:ext uri="{9D8B030D-6E8A-4147-A177-3AD203B41FA5}">
                      <a16:colId xmlns:a16="http://schemas.microsoft.com/office/drawing/2014/main" xmlns="" val="20002"/>
                    </a:ext>
                  </a:extLst>
                </a:gridCol>
              </a:tblGrid>
              <a:tr h="370840">
                <a:tc>
                  <a:txBody>
                    <a:bodyPr/>
                    <a:lstStyle/>
                    <a:p>
                      <a:r>
                        <a:rPr lang="en-US" sz="2000" dirty="0" smtClean="0"/>
                        <a:t>Models</a:t>
                      </a:r>
                      <a:endParaRPr lang="en-US" sz="2000" dirty="0"/>
                    </a:p>
                  </a:txBody>
                  <a:tcPr/>
                </a:tc>
                <a:tc>
                  <a:txBody>
                    <a:bodyPr/>
                    <a:lstStyle/>
                    <a:p>
                      <a:r>
                        <a:rPr lang="en-US" sz="2000" dirty="0" smtClean="0"/>
                        <a:t>Accuracy</a:t>
                      </a:r>
                      <a:endParaRPr lang="en-US" sz="2000" dirty="0"/>
                    </a:p>
                  </a:txBody>
                  <a:tcPr/>
                </a:tc>
                <a:tc>
                  <a:txBody>
                    <a:bodyPr/>
                    <a:lstStyle/>
                    <a:p>
                      <a:r>
                        <a:rPr lang="en-US" sz="2000" dirty="0" smtClean="0"/>
                        <a:t>ROC-AUC</a:t>
                      </a:r>
                      <a:endParaRPr lang="en-US" sz="2000" dirty="0"/>
                    </a:p>
                  </a:txBody>
                  <a:tcPr/>
                </a:tc>
                <a:extLst>
                  <a:ext uri="{0D108BD9-81ED-4DB2-BD59-A6C34878D82A}">
                    <a16:rowId xmlns:a16="http://schemas.microsoft.com/office/drawing/2014/main" xmlns="" val="10000"/>
                  </a:ext>
                </a:extLst>
              </a:tr>
              <a:tr h="370840">
                <a:tc>
                  <a:txBody>
                    <a:bodyPr/>
                    <a:lstStyle/>
                    <a:p>
                      <a:r>
                        <a:rPr lang="en-US" sz="2000" dirty="0" smtClean="0"/>
                        <a:t>Logistic Regression</a:t>
                      </a:r>
                      <a:endParaRPr lang="en-US" sz="2000" dirty="0"/>
                    </a:p>
                  </a:txBody>
                  <a:tcPr/>
                </a:tc>
                <a:tc>
                  <a:txBody>
                    <a:bodyPr/>
                    <a:lstStyle/>
                    <a:p>
                      <a:r>
                        <a:rPr lang="en-US" sz="2000" dirty="0" smtClean="0"/>
                        <a:t>0.994</a:t>
                      </a:r>
                      <a:endParaRPr lang="en-US" sz="2000" dirty="0"/>
                    </a:p>
                  </a:txBody>
                  <a:tcPr/>
                </a:tc>
                <a:tc>
                  <a:txBody>
                    <a:bodyPr/>
                    <a:lstStyle/>
                    <a:p>
                      <a:r>
                        <a:rPr lang="en-US" sz="2000" dirty="0" smtClean="0"/>
                        <a:t>0.77</a:t>
                      </a:r>
                      <a:endParaRPr lang="en-US" sz="2000" dirty="0"/>
                    </a:p>
                  </a:txBody>
                  <a:tcPr/>
                </a:tc>
                <a:extLst>
                  <a:ext uri="{0D108BD9-81ED-4DB2-BD59-A6C34878D82A}">
                    <a16:rowId xmlns:a16="http://schemas.microsoft.com/office/drawing/2014/main" xmlns="" val="10001"/>
                  </a:ext>
                </a:extLst>
              </a:tr>
              <a:tr h="370840">
                <a:tc>
                  <a:txBody>
                    <a:bodyPr/>
                    <a:lstStyle/>
                    <a:p>
                      <a:r>
                        <a:rPr lang="en-US" sz="2000" dirty="0" smtClean="0"/>
                        <a:t>Decision Tree Classifier</a:t>
                      </a:r>
                      <a:endParaRPr lang="en-US" sz="2000" dirty="0"/>
                    </a:p>
                  </a:txBody>
                  <a:tcPr/>
                </a:tc>
                <a:tc>
                  <a:txBody>
                    <a:bodyPr/>
                    <a:lstStyle/>
                    <a:p>
                      <a:r>
                        <a:rPr lang="en-US" sz="2000" dirty="0" smtClean="0"/>
                        <a:t>0.994</a:t>
                      </a:r>
                      <a:endParaRPr lang="en-US" sz="2000" dirty="0"/>
                    </a:p>
                  </a:txBody>
                  <a:tcPr/>
                </a:tc>
                <a:tc>
                  <a:txBody>
                    <a:bodyPr/>
                    <a:lstStyle/>
                    <a:p>
                      <a:r>
                        <a:rPr lang="en-US" sz="2000" dirty="0" smtClean="0"/>
                        <a:t>0.74</a:t>
                      </a:r>
                      <a:endParaRPr lang="en-US" sz="2000" dirty="0"/>
                    </a:p>
                  </a:txBody>
                  <a:tcPr/>
                </a:tc>
                <a:extLst>
                  <a:ext uri="{0D108BD9-81ED-4DB2-BD59-A6C34878D82A}">
                    <a16:rowId xmlns:a16="http://schemas.microsoft.com/office/drawing/2014/main" xmlns="" val="10002"/>
                  </a:ext>
                </a:extLst>
              </a:tr>
              <a:tr h="370840">
                <a:tc>
                  <a:txBody>
                    <a:bodyPr/>
                    <a:lstStyle/>
                    <a:p>
                      <a:r>
                        <a:rPr lang="en-US" sz="2000" dirty="0" smtClean="0"/>
                        <a:t>Random Forest Classifier</a:t>
                      </a:r>
                      <a:endParaRPr lang="en-US" sz="2000" dirty="0"/>
                    </a:p>
                  </a:txBody>
                  <a:tcPr/>
                </a:tc>
                <a:tc>
                  <a:txBody>
                    <a:bodyPr/>
                    <a:lstStyle/>
                    <a:p>
                      <a:r>
                        <a:rPr lang="en-US" sz="2000" dirty="0" smtClean="0"/>
                        <a:t>0.994</a:t>
                      </a:r>
                      <a:endParaRPr lang="en-US" sz="2000" dirty="0"/>
                    </a:p>
                  </a:txBody>
                  <a:tcPr/>
                </a:tc>
                <a:tc>
                  <a:txBody>
                    <a:bodyPr/>
                    <a:lstStyle/>
                    <a:p>
                      <a:r>
                        <a:rPr lang="en-US" sz="2000" dirty="0" smtClean="0"/>
                        <a:t>0.79</a:t>
                      </a:r>
                      <a:endParaRPr lang="en-US" sz="2000" dirty="0"/>
                    </a:p>
                  </a:txBody>
                  <a:tcPr/>
                </a:tc>
                <a:extLst>
                  <a:ext uri="{0D108BD9-81ED-4DB2-BD59-A6C34878D82A}">
                    <a16:rowId xmlns:a16="http://schemas.microsoft.com/office/drawing/2014/main" xmlns="" val="10003"/>
                  </a:ext>
                </a:extLst>
              </a:tr>
              <a:tr h="370840">
                <a:tc>
                  <a:txBody>
                    <a:bodyPr/>
                    <a:lstStyle/>
                    <a:p>
                      <a:r>
                        <a:rPr lang="en-US" sz="2000" b="0" dirty="0" smtClean="0"/>
                        <a:t>Gradient Boosting Classifier</a:t>
                      </a:r>
                      <a:endParaRPr lang="en-US" sz="2000" b="0" dirty="0"/>
                    </a:p>
                  </a:txBody>
                  <a:tcPr/>
                </a:tc>
                <a:tc>
                  <a:txBody>
                    <a:bodyPr/>
                    <a:lstStyle/>
                    <a:p>
                      <a:r>
                        <a:rPr lang="en-US" sz="2000" dirty="0" smtClean="0"/>
                        <a:t>0.994</a:t>
                      </a:r>
                      <a:endParaRPr lang="en-US" sz="2000" dirty="0"/>
                    </a:p>
                  </a:txBody>
                  <a:tcPr/>
                </a:tc>
                <a:tc>
                  <a:txBody>
                    <a:bodyPr/>
                    <a:lstStyle/>
                    <a:p>
                      <a:r>
                        <a:rPr lang="en-US" sz="2000" dirty="0" smtClean="0"/>
                        <a:t>0.77</a:t>
                      </a:r>
                      <a:endParaRPr lang="en-US" sz="2000" dirty="0"/>
                    </a:p>
                  </a:txBody>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9102407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 Feature Selection</a:t>
            </a:r>
            <a:endParaRPr lang="en-US" dirty="0"/>
          </a:p>
        </p:txBody>
      </p:sp>
      <p:sp>
        <p:nvSpPr>
          <p:cNvPr id="3" name="Content Placeholder 2"/>
          <p:cNvSpPr>
            <a:spLocks noGrp="1"/>
          </p:cNvSpPr>
          <p:nvPr>
            <p:ph sz="half" idx="1"/>
          </p:nvPr>
        </p:nvSpPr>
        <p:spPr>
          <a:xfrm>
            <a:off x="838200" y="1825624"/>
            <a:ext cx="5154827" cy="4772883"/>
          </a:xfrm>
        </p:spPr>
        <p:txBody>
          <a:bodyPr>
            <a:normAutofit fontScale="85000" lnSpcReduction="10000"/>
          </a:bodyPr>
          <a:lstStyle/>
          <a:p>
            <a:pPr marL="0" indent="0">
              <a:lnSpc>
                <a:spcPct val="120000"/>
              </a:lnSpc>
              <a:buNone/>
            </a:pPr>
            <a:r>
              <a:rPr lang="en-US" sz="3200" b="1" dirty="0" smtClean="0"/>
              <a:t>Candidate Risk Factors (Features)</a:t>
            </a:r>
            <a:endParaRPr lang="en-US" sz="3200" dirty="0"/>
          </a:p>
          <a:p>
            <a:pPr marL="0" indent="0">
              <a:lnSpc>
                <a:spcPct val="120000"/>
              </a:lnSpc>
              <a:buNone/>
            </a:pPr>
            <a:r>
              <a:rPr lang="en-US" sz="2000" b="1" dirty="0" err="1" smtClean="0">
                <a:solidFill>
                  <a:schemeClr val="accent2">
                    <a:lumMod val="75000"/>
                  </a:schemeClr>
                </a:solidFill>
              </a:rPr>
              <a:t>GA_By_DatesWeeks</a:t>
            </a:r>
            <a:r>
              <a:rPr lang="en-US" sz="2000" b="1" dirty="0"/>
              <a:t>, </a:t>
            </a:r>
            <a:r>
              <a:rPr lang="en-US" sz="2000" b="1" dirty="0" err="1">
                <a:solidFill>
                  <a:schemeClr val="accent2">
                    <a:lumMod val="75000"/>
                  </a:schemeClr>
                </a:solidFill>
              </a:rPr>
              <a:t>BirthWeight</a:t>
            </a:r>
            <a:r>
              <a:rPr lang="en-US" sz="2000" dirty="0"/>
              <a:t>, </a:t>
            </a:r>
            <a:r>
              <a:rPr lang="en-US" sz="2000" dirty="0" err="1"/>
              <a:t>ansteroid</a:t>
            </a:r>
            <a:r>
              <a:rPr lang="en-US" sz="2000" dirty="0"/>
              <a:t>, indomethacin, sepsis, </a:t>
            </a:r>
            <a:r>
              <a:rPr lang="en-US" sz="2000" b="1" dirty="0" err="1">
                <a:solidFill>
                  <a:schemeClr val="accent2">
                    <a:lumMod val="75000"/>
                  </a:schemeClr>
                </a:solidFill>
              </a:rPr>
              <a:t>Multiple_gest</a:t>
            </a:r>
            <a:r>
              <a:rPr lang="en-US" sz="2000" dirty="0"/>
              <a:t>, </a:t>
            </a:r>
            <a:r>
              <a:rPr lang="en-US" sz="2000" dirty="0" err="1"/>
              <a:t>FinalStatus</a:t>
            </a:r>
            <a:r>
              <a:rPr lang="en-US" sz="2000" dirty="0"/>
              <a:t>, Gravida, Para, </a:t>
            </a:r>
            <a:r>
              <a:rPr lang="en-US" sz="2000" b="1" dirty="0">
                <a:solidFill>
                  <a:schemeClr val="accent2">
                    <a:lumMod val="75000"/>
                  </a:schemeClr>
                </a:solidFill>
              </a:rPr>
              <a:t>Sex</a:t>
            </a:r>
            <a:r>
              <a:rPr lang="en-US" sz="2000" dirty="0"/>
              <a:t>, Apgar_1, </a:t>
            </a:r>
            <a:r>
              <a:rPr lang="en-US" sz="2000" b="1" dirty="0">
                <a:solidFill>
                  <a:schemeClr val="accent2">
                    <a:lumMod val="75000"/>
                  </a:schemeClr>
                </a:solidFill>
              </a:rPr>
              <a:t>Apgar_5</a:t>
            </a:r>
            <a:r>
              <a:rPr lang="en-US" sz="2000" dirty="0"/>
              <a:t>, </a:t>
            </a:r>
            <a:r>
              <a:rPr lang="en-US" sz="2000" dirty="0" err="1"/>
              <a:t>DeliveryType</a:t>
            </a:r>
            <a:r>
              <a:rPr lang="en-US" sz="2000" dirty="0"/>
              <a:t>, </a:t>
            </a:r>
            <a:r>
              <a:rPr lang="en-US" sz="2000" dirty="0" err="1"/>
              <a:t>MothersAge</a:t>
            </a:r>
            <a:r>
              <a:rPr lang="en-US" sz="2000" dirty="0"/>
              <a:t>, SGA, BirthSequence1, BirthSequence2, PC-</a:t>
            </a:r>
            <a:r>
              <a:rPr lang="en-US" sz="2000" dirty="0" err="1"/>
              <a:t>Vag</a:t>
            </a:r>
            <a:r>
              <a:rPr lang="en-US" sz="2000" dirty="0"/>
              <a:t>-</a:t>
            </a:r>
            <a:r>
              <a:rPr lang="en-US" sz="2000" dirty="0" err="1"/>
              <a:t>Bleedg</a:t>
            </a:r>
            <a:r>
              <a:rPr lang="en-US" sz="2000" dirty="0"/>
              <a:t>, </a:t>
            </a:r>
            <a:r>
              <a:rPr lang="en-US" sz="2000" b="1" dirty="0">
                <a:solidFill>
                  <a:schemeClr val="accent2">
                    <a:lumMod val="75000"/>
                  </a:schemeClr>
                </a:solidFill>
              </a:rPr>
              <a:t>PC-</a:t>
            </a:r>
            <a:r>
              <a:rPr lang="en-US" sz="2000" b="1" dirty="0" err="1">
                <a:solidFill>
                  <a:schemeClr val="accent2">
                    <a:lumMod val="75000"/>
                  </a:schemeClr>
                </a:solidFill>
              </a:rPr>
              <a:t>Preterm_Labor</a:t>
            </a:r>
            <a:r>
              <a:rPr lang="en-US" sz="2000" dirty="0"/>
              <a:t>, PC-</a:t>
            </a:r>
            <a:r>
              <a:rPr lang="en-US" sz="2000" dirty="0" err="1"/>
              <a:t>Hypertens</a:t>
            </a:r>
            <a:r>
              <a:rPr lang="en-US" sz="2000" dirty="0"/>
              <a:t>, MFC-</a:t>
            </a:r>
            <a:r>
              <a:rPr lang="en-US" sz="2000" dirty="0" err="1"/>
              <a:t>Chorioamn</a:t>
            </a:r>
            <a:r>
              <a:rPr lang="en-US" sz="2000" dirty="0"/>
              <a:t>, MFC-Fetal </a:t>
            </a:r>
            <a:r>
              <a:rPr lang="en-US" sz="2000" dirty="0" err="1"/>
              <a:t>Decel</a:t>
            </a:r>
            <a:r>
              <a:rPr lang="en-US" sz="2000" dirty="0"/>
              <a:t>, </a:t>
            </a:r>
            <a:r>
              <a:rPr lang="en-US" sz="2000" dirty="0" err="1" smtClean="0"/>
              <a:t>Magn</a:t>
            </a:r>
            <a:r>
              <a:rPr lang="en-US" sz="2000" dirty="0" smtClean="0"/>
              <a:t> </a:t>
            </a:r>
            <a:r>
              <a:rPr lang="en-US" sz="2000" dirty="0" err="1"/>
              <a:t>Sulf</a:t>
            </a:r>
            <a:r>
              <a:rPr lang="en-US" sz="2000" dirty="0"/>
              <a:t> (Labor), Year of Birth, LBW, VLBW, </a:t>
            </a:r>
            <a:r>
              <a:rPr lang="en-US" sz="2000" dirty="0" err="1"/>
              <a:t>White_YN</a:t>
            </a:r>
            <a:r>
              <a:rPr lang="en-US" sz="2000" dirty="0"/>
              <a:t>, </a:t>
            </a:r>
            <a:r>
              <a:rPr lang="en-US" sz="2000" dirty="0" err="1"/>
              <a:t>Multiple_YN</a:t>
            </a:r>
            <a:r>
              <a:rPr lang="en-US" sz="2000" dirty="0"/>
              <a:t>, Survived, </a:t>
            </a:r>
            <a:r>
              <a:rPr lang="en-US" sz="2000" dirty="0" smtClean="0"/>
              <a:t>RDS</a:t>
            </a:r>
            <a:r>
              <a:rPr lang="en-US" sz="2000" dirty="0"/>
              <a:t>, BPD, PDA, </a:t>
            </a:r>
            <a:r>
              <a:rPr lang="en-US" sz="2000" dirty="0" err="1"/>
              <a:t>ivh</a:t>
            </a:r>
            <a:r>
              <a:rPr lang="en-US" sz="2000" dirty="0"/>
              <a:t>, </a:t>
            </a:r>
            <a:r>
              <a:rPr lang="en-US" sz="2000" b="1" dirty="0" err="1">
                <a:solidFill>
                  <a:schemeClr val="accent2">
                    <a:lumMod val="75000"/>
                  </a:schemeClr>
                </a:solidFill>
              </a:rPr>
              <a:t>ivh</a:t>
            </a:r>
            <a:r>
              <a:rPr lang="en-US" sz="2000" b="1" dirty="0">
                <a:solidFill>
                  <a:schemeClr val="accent2">
                    <a:lumMod val="75000"/>
                  </a:schemeClr>
                </a:solidFill>
              </a:rPr>
              <a:t> severe</a:t>
            </a:r>
            <a:r>
              <a:rPr lang="en-US" sz="2000" dirty="0"/>
              <a:t>, </a:t>
            </a:r>
            <a:r>
              <a:rPr lang="en-US" sz="2000" dirty="0" smtClean="0"/>
              <a:t>Birth Date (Qtr2 </a:t>
            </a:r>
            <a:r>
              <a:rPr lang="en-US" sz="2000" dirty="0"/>
              <a:t>vs other, Quarter of Birth, AM vs other, Apr vs. Other, Aug vs. Other, Dec vs. Other, Feb vs. Other, Jan vs. Other, Jul vs. Other, Jun vs. Other, Mar vs. Other, May vs. Other, Nov vs. Other, Oct vs. Other, Sep. vs. </a:t>
            </a:r>
            <a:r>
              <a:rPr lang="en-US" sz="2000" dirty="0" smtClean="0"/>
              <a:t>Other), </a:t>
            </a:r>
            <a:r>
              <a:rPr lang="en-US" sz="2000" b="1" dirty="0">
                <a:solidFill>
                  <a:schemeClr val="accent2">
                    <a:lumMod val="75000"/>
                  </a:schemeClr>
                </a:solidFill>
              </a:rPr>
              <a:t>Race (</a:t>
            </a:r>
            <a:r>
              <a:rPr lang="en-US" sz="2000" b="1" dirty="0" err="1">
                <a:solidFill>
                  <a:schemeClr val="accent2">
                    <a:lumMod val="75000"/>
                  </a:schemeClr>
                </a:solidFill>
              </a:rPr>
              <a:t>Race_A</a:t>
            </a:r>
            <a:r>
              <a:rPr lang="en-US" sz="2000" b="1" dirty="0">
                <a:solidFill>
                  <a:schemeClr val="accent2">
                    <a:lumMod val="75000"/>
                  </a:schemeClr>
                </a:solidFill>
              </a:rPr>
              <a:t>, </a:t>
            </a:r>
            <a:r>
              <a:rPr lang="en-US" sz="2000" b="1" dirty="0" err="1">
                <a:solidFill>
                  <a:schemeClr val="accent2">
                    <a:lumMod val="75000"/>
                  </a:schemeClr>
                </a:solidFill>
              </a:rPr>
              <a:t>Race_B</a:t>
            </a:r>
            <a:r>
              <a:rPr lang="en-US" sz="2000" b="1" dirty="0">
                <a:solidFill>
                  <a:schemeClr val="accent2">
                    <a:lumMod val="75000"/>
                  </a:schemeClr>
                </a:solidFill>
              </a:rPr>
              <a:t>, </a:t>
            </a:r>
            <a:r>
              <a:rPr lang="en-US" sz="2000" b="1" dirty="0" err="1">
                <a:solidFill>
                  <a:schemeClr val="accent2">
                    <a:lumMod val="75000"/>
                  </a:schemeClr>
                </a:solidFill>
              </a:rPr>
              <a:t>Race_O</a:t>
            </a:r>
            <a:r>
              <a:rPr lang="en-US" sz="2000" b="1" dirty="0">
                <a:solidFill>
                  <a:schemeClr val="accent2">
                    <a:lumMod val="75000"/>
                  </a:schemeClr>
                </a:solidFill>
              </a:rPr>
              <a:t>, </a:t>
            </a:r>
            <a:r>
              <a:rPr lang="en-US" sz="2000" b="1" dirty="0" err="1">
                <a:solidFill>
                  <a:schemeClr val="accent2">
                    <a:lumMod val="75000"/>
                  </a:schemeClr>
                </a:solidFill>
              </a:rPr>
              <a:t>Race_Others</a:t>
            </a:r>
            <a:r>
              <a:rPr lang="en-US" sz="2000" b="1" dirty="0">
                <a:solidFill>
                  <a:schemeClr val="accent2">
                    <a:lumMod val="75000"/>
                  </a:schemeClr>
                </a:solidFill>
              </a:rPr>
              <a:t>, </a:t>
            </a:r>
            <a:r>
              <a:rPr lang="en-US" sz="2000" b="1" dirty="0" err="1">
                <a:solidFill>
                  <a:schemeClr val="accent2">
                    <a:lumMod val="75000"/>
                  </a:schemeClr>
                </a:solidFill>
              </a:rPr>
              <a:t>Race_U</a:t>
            </a:r>
            <a:r>
              <a:rPr lang="en-US" sz="2000" b="1" dirty="0">
                <a:solidFill>
                  <a:schemeClr val="accent2">
                    <a:lumMod val="75000"/>
                  </a:schemeClr>
                </a:solidFill>
              </a:rPr>
              <a:t>, </a:t>
            </a:r>
            <a:r>
              <a:rPr lang="en-US" sz="2000" b="1" dirty="0" err="1">
                <a:solidFill>
                  <a:schemeClr val="accent2">
                    <a:lumMod val="75000"/>
                  </a:schemeClr>
                </a:solidFill>
              </a:rPr>
              <a:t>Race_W</a:t>
            </a:r>
            <a:r>
              <a:rPr lang="en-US" sz="2000" b="1" dirty="0">
                <a:solidFill>
                  <a:schemeClr val="accent2">
                    <a:lumMod val="75000"/>
                  </a:schemeClr>
                </a:solidFill>
              </a:rPr>
              <a:t>)</a:t>
            </a:r>
          </a:p>
          <a:p>
            <a:pPr>
              <a:lnSpc>
                <a:spcPct val="120000"/>
              </a:lnSpc>
            </a:pPr>
            <a:endParaRPr lang="en-US" sz="3300" dirty="0" smtClean="0"/>
          </a:p>
          <a:p>
            <a:pPr>
              <a:lnSpc>
                <a:spcPct val="120000"/>
              </a:lnSpc>
            </a:pPr>
            <a:endParaRPr lang="en-US" sz="3300" dirty="0"/>
          </a:p>
        </p:txBody>
      </p:sp>
      <p:pic>
        <p:nvPicPr>
          <p:cNvPr id="5" name="Picture 4"/>
          <p:cNvPicPr>
            <a:picLocks noChangeAspect="1"/>
          </p:cNvPicPr>
          <p:nvPr/>
        </p:nvPicPr>
        <p:blipFill>
          <a:blip r:embed="rId2"/>
          <a:stretch>
            <a:fillRect/>
          </a:stretch>
        </p:blipFill>
        <p:spPr>
          <a:xfrm>
            <a:off x="6376859" y="1991326"/>
            <a:ext cx="4775050" cy="4322974"/>
          </a:xfrm>
          <a:prstGeom prst="rect">
            <a:avLst/>
          </a:prstGeom>
        </p:spPr>
      </p:pic>
    </p:spTree>
    <p:extLst>
      <p:ext uri="{BB962C8B-B14F-4D97-AF65-F5344CB8AC3E}">
        <p14:creationId xmlns:p14="http://schemas.microsoft.com/office/powerpoint/2010/main" val="42858441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SIP Prediction Web-API</a:t>
            </a:r>
            <a:endParaRPr lang="en-US" dirty="0"/>
          </a:p>
        </p:txBody>
      </p:sp>
      <p:pic>
        <p:nvPicPr>
          <p:cNvPr id="4" name="Screen Recording 2021-10-25 at 6.58.19 PM">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963613" y="1490663"/>
            <a:ext cx="10188575" cy="4984750"/>
          </a:xfrm>
        </p:spPr>
      </p:pic>
    </p:spTree>
    <p:extLst>
      <p:ext uri="{BB962C8B-B14F-4D97-AF65-F5344CB8AC3E}">
        <p14:creationId xmlns:p14="http://schemas.microsoft.com/office/powerpoint/2010/main" val="315618503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9241"/>
          </a:xfrm>
        </p:spPr>
        <p:txBody>
          <a:bodyPr/>
          <a:lstStyle/>
          <a:p>
            <a:r>
              <a:rPr lang="en-US" dirty="0" smtClean="0"/>
              <a:t>SIP vs NEC Feature Relations</a:t>
            </a:r>
            <a:endParaRPr lang="en-US" dirty="0"/>
          </a:p>
        </p:txBody>
      </p:sp>
      <p:pic>
        <p:nvPicPr>
          <p:cNvPr id="9" name="Content Placeholder 8"/>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838200" y="1073166"/>
            <a:ext cx="5048227" cy="5343132"/>
          </a:xfrm>
        </p:spPr>
      </p:pic>
      <p:pic>
        <p:nvPicPr>
          <p:cNvPr id="10" name="Content Placeholder 9"/>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6096000" y="1073167"/>
            <a:ext cx="5048227" cy="5343131"/>
          </a:xfrm>
        </p:spPr>
      </p:pic>
      <p:sp>
        <p:nvSpPr>
          <p:cNvPr id="11" name="TextBox 10"/>
          <p:cNvSpPr txBox="1"/>
          <p:nvPr/>
        </p:nvSpPr>
        <p:spPr>
          <a:xfrm>
            <a:off x="3049567" y="6323308"/>
            <a:ext cx="625492" cy="523220"/>
          </a:xfrm>
          <a:prstGeom prst="rect">
            <a:avLst/>
          </a:prstGeom>
          <a:noFill/>
        </p:spPr>
        <p:txBody>
          <a:bodyPr wrap="none" rtlCol="0">
            <a:spAutoFit/>
          </a:bodyPr>
          <a:lstStyle/>
          <a:p>
            <a:r>
              <a:rPr lang="en-US" sz="2800" dirty="0" smtClean="0"/>
              <a:t>SIP</a:t>
            </a:r>
            <a:endParaRPr lang="en-US" dirty="0"/>
          </a:p>
        </p:txBody>
      </p:sp>
      <p:sp>
        <p:nvSpPr>
          <p:cNvPr id="12" name="TextBox 11"/>
          <p:cNvSpPr txBox="1"/>
          <p:nvPr/>
        </p:nvSpPr>
        <p:spPr>
          <a:xfrm>
            <a:off x="8309328" y="6369803"/>
            <a:ext cx="778355" cy="523220"/>
          </a:xfrm>
          <a:prstGeom prst="rect">
            <a:avLst/>
          </a:prstGeom>
          <a:noFill/>
        </p:spPr>
        <p:txBody>
          <a:bodyPr wrap="none" rtlCol="0">
            <a:spAutoFit/>
          </a:bodyPr>
          <a:lstStyle/>
          <a:p>
            <a:r>
              <a:rPr lang="en-US" sz="2800" dirty="0" smtClean="0"/>
              <a:t>NEC</a:t>
            </a:r>
            <a:endParaRPr lang="en-US" dirty="0"/>
          </a:p>
        </p:txBody>
      </p:sp>
      <p:cxnSp>
        <p:nvCxnSpPr>
          <p:cNvPr id="14" name="Straight Connector 13"/>
          <p:cNvCxnSpPr/>
          <p:nvPr/>
        </p:nvCxnSpPr>
        <p:spPr>
          <a:xfrm>
            <a:off x="6096000" y="1073166"/>
            <a:ext cx="0" cy="569922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6" name="Rounded Rectangle 15"/>
          <p:cNvSpPr/>
          <p:nvPr/>
        </p:nvSpPr>
        <p:spPr>
          <a:xfrm>
            <a:off x="1482811" y="1387007"/>
            <a:ext cx="1458097" cy="244086"/>
          </a:xfrm>
          <a:prstGeom prst="round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6726194" y="3576246"/>
            <a:ext cx="1458097" cy="244086"/>
          </a:xfrm>
          <a:prstGeom prst="round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2165685" y="2286000"/>
            <a:ext cx="775224" cy="228600"/>
          </a:xfrm>
          <a:prstGeom prst="round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7423484" y="3994484"/>
            <a:ext cx="760807" cy="288759"/>
          </a:xfrm>
          <a:prstGeom prst="round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13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heel(1)">
                                      <p:cBhvr>
                                        <p:cTn id="7" dur="1000"/>
                                        <p:tgtEl>
                                          <p:spTgt spid="16"/>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heel(1)">
                                      <p:cBhvr>
                                        <p:cTn id="10" dur="1000"/>
                                        <p:tgtEl>
                                          <p:spTgt spid="18"/>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heel(1)">
                                      <p:cBhvr>
                                        <p:cTn id="13" dur="1000"/>
                                        <p:tgtEl>
                                          <p:spTgt spid="17"/>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heel(1)">
                                      <p:cBhvr>
                                        <p:cTn id="16"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2D872F-8796-433A-80AB-CE62002DC3F0}"/>
              </a:ext>
            </a:extLst>
          </p:cNvPr>
          <p:cNvSpPr>
            <a:spLocks noGrp="1"/>
          </p:cNvSpPr>
          <p:nvPr>
            <p:ph type="ctrTitle"/>
          </p:nvPr>
        </p:nvSpPr>
        <p:spPr>
          <a:xfrm>
            <a:off x="329184" y="1122363"/>
            <a:ext cx="11228832" cy="2387600"/>
          </a:xfrm>
        </p:spPr>
        <p:txBody>
          <a:bodyPr>
            <a:normAutofit/>
          </a:bodyPr>
          <a:lstStyle/>
          <a:p>
            <a:r>
              <a:rPr lang="en-US" dirty="0" smtClean="0"/>
              <a:t>Thank you.</a:t>
            </a:r>
            <a:endParaRPr lang="en-US" dirty="0"/>
          </a:p>
        </p:txBody>
      </p:sp>
      <p:sp>
        <p:nvSpPr>
          <p:cNvPr id="3" name="Subtitle 2">
            <a:extLst>
              <a:ext uri="{FF2B5EF4-FFF2-40B4-BE49-F238E27FC236}">
                <a16:creationId xmlns:a16="http://schemas.microsoft.com/office/drawing/2014/main" xmlns="" id="{6A0B029E-D7C7-487C-A6F3-DF92DD023C0D}"/>
              </a:ext>
            </a:extLst>
          </p:cNvPr>
          <p:cNvSpPr>
            <a:spLocks noGrp="1"/>
          </p:cNvSpPr>
          <p:nvPr>
            <p:ph type="subTitle" idx="1"/>
          </p:nvPr>
        </p:nvSpPr>
        <p:spPr>
          <a:xfrm>
            <a:off x="1540476" y="5394411"/>
            <a:ext cx="9144000" cy="643467"/>
          </a:xfrm>
        </p:spPr>
        <p:txBody>
          <a:bodyPr>
            <a:normAutofit/>
          </a:bodyPr>
          <a:lstStyle/>
          <a:p>
            <a:r>
              <a:rPr lang="en-US" sz="2000" dirty="0"/>
              <a:t>Zigeng Wang, Rik Roy, Naveed Hussain, </a:t>
            </a:r>
            <a:r>
              <a:rPr lang="en-US" sz="2000" dirty="0" err="1"/>
              <a:t>Sanguthevar</a:t>
            </a:r>
            <a:r>
              <a:rPr lang="en-US" sz="2000" dirty="0"/>
              <a:t> </a:t>
            </a:r>
            <a:r>
              <a:rPr lang="en-US" sz="2000" dirty="0" err="1"/>
              <a:t>Rajasekaran</a:t>
            </a:r>
            <a:r>
              <a:rPr lang="en-US" sz="2000" dirty="0"/>
              <a:t> </a:t>
            </a:r>
          </a:p>
        </p:txBody>
      </p:sp>
    </p:spTree>
    <p:extLst>
      <p:ext uri="{BB962C8B-B14F-4D97-AF65-F5344CB8AC3E}">
        <p14:creationId xmlns:p14="http://schemas.microsoft.com/office/powerpoint/2010/main" val="19448839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Total Risk Factors Studied</a:t>
            </a:r>
            <a:endParaRPr lang="en-US" dirty="0"/>
          </a:p>
        </p:txBody>
      </p:sp>
      <p:sp>
        <p:nvSpPr>
          <p:cNvPr id="3" name="Content Placeholder 2"/>
          <p:cNvSpPr>
            <a:spLocks noGrp="1"/>
          </p:cNvSpPr>
          <p:nvPr>
            <p:ph idx="1"/>
          </p:nvPr>
        </p:nvSpPr>
        <p:spPr/>
        <p:txBody>
          <a:bodyPr>
            <a:normAutofit lnSpcReduction="10000"/>
          </a:bodyPr>
          <a:lstStyle/>
          <a:p>
            <a:r>
              <a:rPr lang="en-US" dirty="0"/>
              <a:t>['SIP', '</a:t>
            </a:r>
            <a:r>
              <a:rPr lang="en-US" dirty="0" err="1"/>
              <a:t>GA_By_DatesWeeks</a:t>
            </a:r>
            <a:r>
              <a:rPr lang="en-US" dirty="0"/>
              <a:t>', '</a:t>
            </a:r>
            <a:r>
              <a:rPr lang="en-US" dirty="0" err="1"/>
              <a:t>BirthWeight</a:t>
            </a:r>
            <a:r>
              <a:rPr lang="en-US" dirty="0"/>
              <a:t>', '</a:t>
            </a:r>
            <a:r>
              <a:rPr lang="en-US" dirty="0" err="1"/>
              <a:t>ansteroid</a:t>
            </a:r>
            <a:r>
              <a:rPr lang="en-US" dirty="0"/>
              <a:t>', 'indomethacin', 'sepsis', '</a:t>
            </a:r>
            <a:r>
              <a:rPr lang="en-US" dirty="0" err="1"/>
              <a:t>Multiple_gest</a:t>
            </a:r>
            <a:r>
              <a:rPr lang="en-US" dirty="0"/>
              <a:t>', '</a:t>
            </a:r>
            <a:r>
              <a:rPr lang="en-US" dirty="0" err="1"/>
              <a:t>FinalStatus</a:t>
            </a:r>
            <a:r>
              <a:rPr lang="en-US" dirty="0"/>
              <a:t>', 'Gravida', 'Para', 'Sex', 'Apgar_1', 'Apgar_5', '</a:t>
            </a:r>
            <a:r>
              <a:rPr lang="en-US" dirty="0" err="1"/>
              <a:t>DeliveryType</a:t>
            </a:r>
            <a:r>
              <a:rPr lang="en-US" dirty="0"/>
              <a:t>', '</a:t>
            </a:r>
            <a:r>
              <a:rPr lang="en-US" dirty="0" err="1"/>
              <a:t>MothersAge</a:t>
            </a:r>
            <a:r>
              <a:rPr lang="en-US" dirty="0"/>
              <a:t>', 'SGA', 'BirthSequence1', 'BirthSequence2', 'PC-</a:t>
            </a:r>
            <a:r>
              <a:rPr lang="en-US" dirty="0" err="1"/>
              <a:t>Vag</a:t>
            </a:r>
            <a:r>
              <a:rPr lang="en-US" dirty="0"/>
              <a:t>-</a:t>
            </a:r>
            <a:r>
              <a:rPr lang="en-US" dirty="0" err="1"/>
              <a:t>Bleedg</a:t>
            </a:r>
            <a:r>
              <a:rPr lang="en-US" dirty="0"/>
              <a:t>', 'PC-</a:t>
            </a:r>
            <a:r>
              <a:rPr lang="en-US" dirty="0" err="1"/>
              <a:t>Preterm_Labor</a:t>
            </a:r>
            <a:r>
              <a:rPr lang="en-US" dirty="0"/>
              <a:t>', 'PC-</a:t>
            </a:r>
            <a:r>
              <a:rPr lang="en-US" dirty="0" err="1"/>
              <a:t>Hypertens</a:t>
            </a:r>
            <a:r>
              <a:rPr lang="en-US" dirty="0"/>
              <a:t>', 'MFC-</a:t>
            </a:r>
            <a:r>
              <a:rPr lang="en-US" dirty="0" err="1"/>
              <a:t>Chorioamn</a:t>
            </a:r>
            <a:r>
              <a:rPr lang="en-US" dirty="0"/>
              <a:t>', 'MFC-Fetal </a:t>
            </a:r>
            <a:r>
              <a:rPr lang="en-US" dirty="0" err="1"/>
              <a:t>Decel</a:t>
            </a:r>
            <a:r>
              <a:rPr lang="en-US" dirty="0"/>
              <a:t>', </a:t>
            </a:r>
            <a:r>
              <a:rPr lang="en-US" dirty="0" smtClean="0"/>
              <a:t>'</a:t>
            </a:r>
            <a:r>
              <a:rPr lang="en-US" dirty="0" err="1" smtClean="0"/>
              <a:t>Magn</a:t>
            </a:r>
            <a:r>
              <a:rPr lang="en-US" dirty="0" smtClean="0"/>
              <a:t> </a:t>
            </a:r>
            <a:r>
              <a:rPr lang="en-US" dirty="0" err="1"/>
              <a:t>Sulf</a:t>
            </a:r>
            <a:r>
              <a:rPr lang="en-US" dirty="0"/>
              <a:t> (Labor)', 'Year of Birth', 'LBW', 'VLBW', '</a:t>
            </a:r>
            <a:r>
              <a:rPr lang="en-US" dirty="0" err="1"/>
              <a:t>White_YN</a:t>
            </a:r>
            <a:r>
              <a:rPr lang="en-US" dirty="0"/>
              <a:t>', '</a:t>
            </a:r>
            <a:r>
              <a:rPr lang="en-US" dirty="0" err="1"/>
              <a:t>Multiple_YN</a:t>
            </a:r>
            <a:r>
              <a:rPr lang="en-US" dirty="0"/>
              <a:t>', 'Survived', ' NEC episode I', 'RDS', 'BPD', 'PDA', '</a:t>
            </a:r>
            <a:r>
              <a:rPr lang="en-US" dirty="0" err="1"/>
              <a:t>ivh</a:t>
            </a:r>
            <a:r>
              <a:rPr lang="en-US" dirty="0"/>
              <a:t>', '</a:t>
            </a:r>
            <a:r>
              <a:rPr lang="en-US" dirty="0" err="1"/>
              <a:t>ivh</a:t>
            </a:r>
            <a:r>
              <a:rPr lang="en-US" dirty="0"/>
              <a:t> severe', 'Qtr2 vs other', 'Quarter of Birth', 'AM vs other', 'Apr vs. Other', 'Aug vs. Other', 'Dec vs. Other', 'Feb vs. Other', 'Jan vs. Other', 'Jul vs. Other', 'Jun vs. Other', 'Mar vs. Other', 'May vs. Other', 'Nov vs. Other', 'Oct vs. Other', 'Sep. vs. Other', '</a:t>
            </a:r>
            <a:r>
              <a:rPr lang="en-US" dirty="0" err="1"/>
              <a:t>Race_A</a:t>
            </a:r>
            <a:r>
              <a:rPr lang="en-US" dirty="0"/>
              <a:t>', '</a:t>
            </a:r>
            <a:r>
              <a:rPr lang="en-US" dirty="0" err="1"/>
              <a:t>Race_B</a:t>
            </a:r>
            <a:r>
              <a:rPr lang="en-US" dirty="0"/>
              <a:t>', '</a:t>
            </a:r>
            <a:r>
              <a:rPr lang="en-US" dirty="0" err="1"/>
              <a:t>Race_O</a:t>
            </a:r>
            <a:r>
              <a:rPr lang="en-US" dirty="0"/>
              <a:t>', '</a:t>
            </a:r>
            <a:r>
              <a:rPr lang="en-US" dirty="0" err="1"/>
              <a:t>Race_Others</a:t>
            </a:r>
            <a:r>
              <a:rPr lang="en-US" dirty="0"/>
              <a:t>', '</a:t>
            </a:r>
            <a:r>
              <a:rPr lang="en-US" dirty="0" err="1"/>
              <a:t>Race_U</a:t>
            </a:r>
            <a:r>
              <a:rPr lang="en-US" dirty="0"/>
              <a:t>', '</a:t>
            </a:r>
            <a:r>
              <a:rPr lang="en-US" dirty="0" err="1"/>
              <a:t>Race_W</a:t>
            </a:r>
            <a:r>
              <a:rPr lang="en-US" dirty="0"/>
              <a:t>']</a:t>
            </a:r>
          </a:p>
        </p:txBody>
      </p:sp>
    </p:spTree>
    <p:extLst>
      <p:ext uri="{BB962C8B-B14F-4D97-AF65-F5344CB8AC3E}">
        <p14:creationId xmlns:p14="http://schemas.microsoft.com/office/powerpoint/2010/main" val="32088430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1502</TotalTime>
  <Words>1374</Words>
  <Application>Microsoft Office PowerPoint</Application>
  <PresentationFormat>Widescreen</PresentationFormat>
  <Paragraphs>185</Paragraphs>
  <Slides>18</Slides>
  <Notes>11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宋体</vt:lpstr>
      <vt:lpstr>Arial</vt:lpstr>
      <vt:lpstr>Calibri</vt:lpstr>
      <vt:lpstr>Calibri Light</vt:lpstr>
      <vt:lpstr>Wingdings</vt:lpstr>
      <vt:lpstr>Office Theme</vt:lpstr>
      <vt:lpstr>Modeling and Applications of Predicting Risk Factors for Spontaneous Intestinal Perforation (SIP) in Newborn Infants</vt:lpstr>
      <vt:lpstr>Spontaneous Intestinal Perforation (SIP)</vt:lpstr>
      <vt:lpstr>Conventional SIP Prediction</vt:lpstr>
      <vt:lpstr>Conventional SIP Prediction</vt:lpstr>
      <vt:lpstr>Conventional SIP Prediction</vt:lpstr>
      <vt:lpstr>Conventional SIP Prediction</vt:lpstr>
      <vt:lpstr>Conventional SIP Prediction</vt:lpstr>
      <vt:lpstr>Conventional SIP Prediction</vt:lpstr>
      <vt:lpstr>Machine Learning Aided SIP Prediction</vt:lpstr>
      <vt:lpstr>Data Source</vt:lpstr>
      <vt:lpstr>Patient Detail</vt:lpstr>
      <vt:lpstr>Machine Learning Two Phases</vt:lpstr>
      <vt:lpstr>Machine Learning Model Comparison</vt:lpstr>
      <vt:lpstr>Machine Learning Feature Selection</vt:lpstr>
      <vt:lpstr>SIP Prediction Web-API</vt:lpstr>
      <vt:lpstr>SIP vs NEC Feature Relations</vt:lpstr>
      <vt:lpstr>Thank you.</vt:lpstr>
      <vt:lpstr>Total Risk Factors Studied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Applications of Predicting Risk Factors for Spontaneous Intestinal Perforation (SIP) in Newborn Infants</dc:title>
  <dc:creator>Zigeng Wang</dc:creator>
  <cp:lastModifiedBy>Wang, Zigeng</cp:lastModifiedBy>
  <cp:revision>69</cp:revision>
  <dcterms:created xsi:type="dcterms:W3CDTF">2021-10-23T04:00:18Z</dcterms:created>
  <dcterms:modified xsi:type="dcterms:W3CDTF">2021-10-31T01:08:25Z</dcterms:modified>
</cp:coreProperties>
</file>